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256" r:id="rId2"/>
    <p:sldId id="359" r:id="rId3"/>
    <p:sldId id="360" r:id="rId4"/>
    <p:sldId id="258" r:id="rId5"/>
    <p:sldId id="321" r:id="rId6"/>
    <p:sldId id="259" r:id="rId7"/>
    <p:sldId id="322" r:id="rId8"/>
    <p:sldId id="323" r:id="rId9"/>
    <p:sldId id="324" r:id="rId10"/>
    <p:sldId id="263" r:id="rId11"/>
    <p:sldId id="368" r:id="rId12"/>
    <p:sldId id="369" r:id="rId13"/>
    <p:sldId id="264" r:id="rId14"/>
    <p:sldId id="265" r:id="rId15"/>
    <p:sldId id="266" r:id="rId16"/>
    <p:sldId id="447" r:id="rId17"/>
    <p:sldId id="44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449" r:id="rId32"/>
    <p:sldId id="334" r:id="rId33"/>
    <p:sldId id="335" r:id="rId34"/>
    <p:sldId id="283" r:id="rId35"/>
    <p:sldId id="284" r:id="rId36"/>
    <p:sldId id="450" r:id="rId37"/>
    <p:sldId id="288" r:id="rId38"/>
    <p:sldId id="289" r:id="rId39"/>
    <p:sldId id="290" r:id="rId40"/>
    <p:sldId id="291" r:id="rId41"/>
    <p:sldId id="295" r:id="rId42"/>
    <p:sldId id="451" r:id="rId43"/>
    <p:sldId id="452" r:id="rId44"/>
    <p:sldId id="453" r:id="rId45"/>
    <p:sldId id="455" r:id="rId46"/>
    <p:sldId id="456" r:id="rId47"/>
    <p:sldId id="302" r:id="rId48"/>
    <p:sldId id="307" r:id="rId49"/>
    <p:sldId id="308" r:id="rId50"/>
    <p:sldId id="309" r:id="rId51"/>
    <p:sldId id="310" r:id="rId52"/>
    <p:sldId id="311" r:id="rId53"/>
    <p:sldId id="312" r:id="rId54"/>
    <p:sldId id="446" r:id="rId55"/>
    <p:sldId id="313" r:id="rId56"/>
    <p:sldId id="314" r:id="rId57"/>
    <p:sldId id="315" r:id="rId58"/>
    <p:sldId id="316" r:id="rId59"/>
    <p:sldId id="317" r:id="rId60"/>
    <p:sldId id="319" r:id="rId61"/>
    <p:sldId id="373" r:id="rId62"/>
  </p:sldIdLst>
  <p:sldSz cx="10080625" cy="7559675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817"/>
  </p:normalViewPr>
  <p:slideViewPr>
    <p:cSldViewPr snapToGrid="0">
      <p:cViewPr varScale="1">
        <p:scale>
          <a:sx n="145" d="100"/>
          <a:sy n="145" d="100"/>
        </p:scale>
        <p:origin x="1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3C0148-BDD7-2FBD-FF40-2D36A5383D5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E7F41-E155-A114-B278-A2AA78977C2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compatLnSpc="0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45B60-C439-8ED4-A613-D578340A7639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55EC7-FB66-326D-8652-CD7C54C02DC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compatLnSpc="0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D1498560-0B2E-164D-8D52-9DAA5A2155DA}" type="slidenum">
              <a:t>‹#›</a:t>
            </a:fld>
            <a:endParaRPr lang="en-US" sz="14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268601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36E2F-297E-688E-C538-095C16DA9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64280"/>
            <a:ext cx="502848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BF05B-6599-8D60-0A17-5B8BC5919AEA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A0D299B-4F86-EA1A-802F-275C443D421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0662A-87A9-D620-6BB4-E1AFA1BB40D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algn="r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A9984-F3FD-E042-56FC-5328E86925C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lv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56575-770C-847F-3ACE-CD601697113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lvl="0" algn="r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0BE73330-D688-AF4E-91D2-A82DF9A16B0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01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>
        <a:ln>
          <a:noFill/>
        </a:ln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A5ECD-1F06-B3A7-9299-569DEA413EB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24B67D0-00F5-9247-ADCA-E7E61ADD2BA7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49DC2-9E20-989E-02C9-126CF37258D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EA074-4598-735F-A108-A636C1FBCB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DC3AB-A14D-7C41-B042-E9DFFC1841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29190FF-AE14-1843-A10A-2153921AE1DD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25A2C-CA39-5EF1-E122-E5E797EBF4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03751-86C6-5A6A-E04A-35B803E46A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39E15-5AE1-CF56-104E-678251CACE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E7968B7A-83CA-6446-8DC2-C9F0738C6F2A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A5FF9-9675-999F-A654-FA872DB469A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026CC-DB25-A051-C510-67A5411F0ED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4A870-CB9A-C10A-733B-D51205C4E53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9DA9784-FB89-AD46-885F-E8FCA27A2D27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3420A-8DE7-502A-A0B6-241D48FC248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EDEB3-4949-B5D1-FE55-28B7E3350A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631FC-6480-67DE-D9D8-99E2358066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A58D851-C362-864B-9415-B9BCF2360863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8EFB9-C090-B1FE-A4D3-AB6E47DC0D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0D97A-6DD0-8318-B5EB-4F560AA2DE7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18C6E-5F14-2BEF-8C0F-002FEF1BEA2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A1738D9-06DB-F849-93B9-66C43F132FE3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B9164-9B1B-7C21-B5DC-18B8849EFFB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40282-4A9B-4C68-E13F-79FFC7A266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C7912-E944-2591-14F9-1237D9FE1C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5308C66-B0BE-9847-8FD1-86CB5E918AEE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76C95-E42F-70C9-7973-1FDA6E72AD4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153B8-59AD-764C-581C-618F83B723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8BCC0-24AA-6026-2506-37D4C91A41F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014E1FA6-D93C-354B-903C-72F560D61ED8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DC4D5-7278-8B80-A9FD-6784E1127BF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F801F-C17C-1D65-78E2-578124BBB74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4A5D3-FC4E-13D7-64DE-BE4CBCE50E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9AA812B-BD45-E04D-8281-75E6FCAFF195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991E4-2C32-539C-6DF4-376DF747D12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27245-777A-58EC-5BB6-8088DBBC09E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523DE-AB21-C69E-2243-68FC9CEFE2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6C29C32-AC1E-9A4C-866C-FA82D7268E54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7A0AE-F80D-7D84-4D33-C2B7272A756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99708-0C77-7CEC-453D-79B38256818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C4D00-0E9A-9670-F092-3CC8EDA6E6A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B046654-BFA5-5846-862C-4504817ECCB2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97ED3-8F58-44F3-62DD-8269472935E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F8432-BE09-A790-8F8F-345FF1DC0C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38E86-F16F-3ED4-FE94-4581B80F37A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42FB0490-00D9-1F4E-8B84-29A6667D6C8D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85EC8-5E96-B50C-C8AE-DCAE0663A57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6B973-FA95-9F40-9962-3D6784362E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0B891-86FD-655B-6532-04CB84755DD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94071A2-719C-A64C-82B0-ADE4A5C68A18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6703C-8A97-6E41-5F5A-5821140E646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2AF22-E75E-06C9-77F1-99620B27C1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FD5DC-35E1-0935-A863-2A7BCED80C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5B5E89F-4BD0-9D42-A531-D568C09AFECC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1558C-EE55-FB83-D447-D9D2C5959DF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37AF2-1333-BD8A-29BC-CD92601E35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26265-8AF9-8905-BB39-8FF42F7AF4A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B3EF548-39A0-274F-BC84-35BEF50AB5A6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92F95-5199-5413-487B-34CCB0481C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BFE68-59DC-1D28-19C7-611CE0301E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CAF96-8F38-EC51-1706-DB8CC5150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DC41F-A3B8-B5ED-93D4-3AB0537D40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B3EF548-39A0-274F-BC84-35BEF50AB5A6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89FA3-F6B1-D942-C07B-1D148C41E7A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BC099-776C-2AF0-B4FE-558A3CBFE38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756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0C003-5509-4D82-C8D7-A36028CE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452B7-2761-7173-B388-B7EFB5ED575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B3EF548-39A0-274F-BC84-35BEF50AB5A6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B250B-B2A9-DDAF-432A-C318D6D1A1F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A3A38-30B2-574A-5F1B-5B93F9B9F0A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68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BFDF7-B580-861A-A310-10892BF68C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2F676AB-1A86-5241-B0E0-F99B30A2D48E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DB456-B8B5-6DFE-52B7-E9ED0C3FECF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562AF-EE4F-4AAE-1EA1-5906CF4828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B9D0C-8B0F-C0F5-4251-29FEFA9E84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082768B-DC06-2B44-B660-A29E7747CED3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2313B-7F65-CEFB-555F-1DDFBE993F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0B742-4ED7-883A-4AC0-6F50166B4C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BEDFC-5441-162D-DB08-D32DFC23A6A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72A0B34-ED27-6948-B2DD-54CC6E82805B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FEC06-AFD4-4BE1-3BC6-04E4AC5D78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F812C-C431-A545-F48C-F15F580A40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B77E4-3415-FFD9-AE57-1DEE77D538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B2E6E03-B2EE-E14B-86A9-07670D6463F3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B58F3-A2C6-9C3E-7CEF-128D5688044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BB038-95AA-EAFC-DB5B-363615C9E4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002ED-8470-151E-F6DD-87405747C9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A77B82E4-DEC2-BA4E-B059-309E06D3C52D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EF140-7244-D9B4-FA36-0E8E63487B0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03A2E-1F0F-C773-177E-D68A46DC3CB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65762-AFE1-F41D-F0BE-E21C5F1ADC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CDEBE73-FD32-0748-96EB-75B91A21A4FE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6AF15-80CF-64F6-2FA8-CC00E48392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1FB25-742C-2EFC-9641-F340FD96BA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1F423-B7E9-F763-0BF8-7967129F248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C938CC9-3250-654B-8129-3C2615BDFEAB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303BF-7F51-FDC8-359D-7F6F7D48CE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5C793-E403-6F13-8AF6-6BF8B61A48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59FBF-796B-DEBC-F9C8-B4329D0A00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86A036BF-C3B8-AF41-961D-06ACC187A25C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6C78A-6843-75AE-AB5F-9671D3C58C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5CCD4-3ADE-E6DA-94D6-A4DDEBFCF8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DDB0F-FEBC-6DEB-70D6-168266722C4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4EBC046-F307-A041-B793-0E3FF568588C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A860F-1161-4D13-A83F-E3ACC70DB5B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5BD4F-49B1-3DB8-4022-7CB5D7BCACB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40A35-0AAA-C45A-B70F-1257364F958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62FF52E-8328-8B41-82D5-A1C805A952DB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80F04-5288-DED7-C27E-23A203FBC6E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22B3F-BB93-52A1-439B-C66706FB511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10E39-930B-88FE-7F85-E598946211E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A990D98-3BF3-8644-A430-620D4F34C021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AE88F-D9E4-2088-84F8-8A74BB0168F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044C8-D51C-E862-B433-AC18CE5D40F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1BE52-14F1-E29B-FFD6-3693C5063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C238457-B55D-2848-B1B7-341C264AE90E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9A49C-592F-3B16-CFED-B25514DBE46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AF95C-5642-5F67-6831-F3C471CA71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EE6A9-3ABF-90D3-3F72-4BDD255B1B5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A572B79-6CFB-3B42-A41A-AEDCEE156F17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653C3-4BAD-5228-DF32-87554774855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24949-6EEA-64FF-0EA1-EA25B75FF54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20A4-8A1C-79FE-A8A0-0F5778FA1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3663C-F6BD-9548-9F58-5D684805A4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2A572B79-6CFB-3B42-A41A-AEDCEE156F17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2D14D-6CE8-05FD-0FF1-21BE281414F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19E78-2052-1C71-58E6-058084E183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082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4B749-74A4-139A-0214-294DA1CA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E95BA-E3F9-C939-227B-FD72E5B648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D4C3F-9994-0C81-D697-340F19E72CA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3AC4E-ACCE-C8D3-1327-5F5A0BC081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853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96C6-C4A2-66D8-D690-AEA8B55B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8961F-0AC4-4C9A-8389-532122A74C5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CFD32-C614-7C0A-7287-2B904A27845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AC668-B19B-1070-D0A2-C85433A2FFF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456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9DEF7-26FD-BF70-06C8-96591813DAD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2C8D8B3-6FF6-2748-BC7B-B4F61710ED6B}" type="slidenum">
              <a:t>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E269D-8158-591A-5015-591A3E66AB7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9A807-ACF4-D8FD-3E6C-E5AF857791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59AFF-6B0B-A7D7-C1C1-034D47511AD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1DA0A5E-1F62-C840-B54D-AA77D066D165}" type="slidenum">
              <a:t>35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09FA3-726F-AF4F-F121-3741A514F6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BB5EE-5DD7-5823-1478-2A89ECCB83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C1ADD-13D1-2C90-3C5F-0B1992843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BEC0A-1DC1-CEA8-4192-35397AB2951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1DA0A5E-1F62-C840-B54D-AA77D066D165}" type="slidenum">
              <a:t>36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9C875-C9FE-4289-5DAD-85A4D5A33EA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F1D6B-F71A-F8A5-530F-27817A25D3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181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8CB98-C443-A8BD-1E30-9F06D58DCEC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8583998-9DD8-7141-BBCE-ECB62A0FAC10}" type="slidenum">
              <a:t>37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EEA5A-9AB9-81C1-4C20-54D89E4BDA7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145BA-ECCB-1A3A-8764-8C46E7505C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90C52-FC42-8BAF-4235-C30C60A07E1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503B033-7CFD-964A-BF26-DA9D3E32C13D}" type="slidenum">
              <a:t>38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29204-6EA0-F260-1F1C-DD8485633A4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813FF-B2F7-BC95-4C66-D9BB9AA7354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1D39C-7D6F-46EC-B495-4D19234EA40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B6C2BBC6-58A2-2F48-82F1-411B1F78C82D}" type="slidenum">
              <a:t>39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F767A-11C1-4B4B-CADF-43CDB92011C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15FF6-A3CB-D727-2EFD-60E1C11D88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45FCE-2BA1-A7D9-9A8B-04F3A6E0907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5B2DBD3-99C0-474C-B4BD-45BD26E7A237}" type="slidenum">
              <a:t>40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36548-5BC5-ECBF-D8F3-B36CE67F5EB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B2D7A-1150-48CB-6173-B42E43AC686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434B3-3B40-1E9C-956B-DB9F9C09540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03499FC-2011-F245-9624-01E680A534A2}" type="slidenum">
              <a:t>41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FE78A-30A1-9DDA-DD3D-44E19A9C9A9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5A42B-0C18-B88F-F38A-6BFC2DC61C9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62F4B-A863-8FD6-B5C4-394747F53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F258F-4A5B-669F-3A8E-B2740FA613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03499FC-2011-F245-9624-01E680A534A2}" type="slidenum">
              <a:t>42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90A13-92FF-F8A2-843A-1564BC9CD02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67B75-B82D-3A4C-BB48-562D94E9B1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43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8EE5-EADF-746E-4EE3-1B18EB6F2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60692-5B11-34E8-AB56-C77A3C2587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03499FC-2011-F245-9624-01E680A534A2}" type="slidenum">
              <a:t>43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8C454-3E17-EE75-7007-AF875096270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44AE5-694A-E4CA-2A61-830AE08A5C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492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9676-5C88-BF0B-D86B-38984A9D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267E6-4466-8012-EC10-055622F1D8E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03499FC-2011-F245-9624-01E680A534A2}" type="slidenum">
              <a:t>44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9B778-D176-77A4-F347-2502754BDC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677BA-AD17-DF13-51E9-3DA732C784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33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0E569-A8C9-7855-40C0-1D56EEEA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F2943-183B-C468-9C03-545DD4E927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03499FC-2011-F245-9624-01E680A534A2}" type="slidenum">
              <a:t>45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67789-FDD8-2917-9AF3-78C49CC7F1A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92F7B-A4EC-1B90-4721-3851415FD41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960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BD474-EFC3-52F1-8345-1D2B6198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4FC8F-1A4D-FB37-ADCD-E726FFEACCE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03499FC-2011-F245-9624-01E680A534A2}" type="slidenum">
              <a:t>46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B4856-7CEB-11C7-4ACB-F00A713E35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EEE5D-E1BB-0C24-868B-97435E3BEC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889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4EF52-D793-F0A7-09BF-69FCC15B40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DA76DAA-9D26-984C-BA34-CB2E9BFE23C5}" type="slidenum">
              <a:t>47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820E02-CFED-58BB-9C37-3197BA82535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0FE92-0D27-12E0-BC78-47C2956E8B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DA6E5-F58A-1BE9-24F1-F13636199AB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EAACC5E-EA02-EE4F-A2FE-A1BBC7AB5B38}" type="slidenum">
              <a:t>48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5948A-C8A8-06FD-44EA-B649A3ED542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97A69-0A6E-A9A8-9F5A-73F7B4BBF3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A10B8-C964-BA3E-3699-DB25CCD4714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4B3B39B6-E769-BA4D-BD08-652D0761365B}" type="slidenum">
              <a:t>49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97915-0B1C-BEC8-85CD-770239495F5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BC3A7-5172-4813-5EF2-D85864A759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E4CE3-5CC5-ABA4-71BB-3EFFF55DEE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DE490FAC-50AF-7F4D-9047-8B46490AF584}" type="slidenum">
              <a:t>50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F2238-545A-4511-558F-7AAB0BFCB6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FE58C-C9D7-2AC7-6766-CD07B4796F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9D3BD-2CA6-147D-027F-D8C70EBACB5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72A38878-6586-574A-BF8E-5F53303AE65D}" type="slidenum">
              <a:t>51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C6D52-30C1-DFA2-481E-9A2B6036BD7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D7C13-95DF-DF74-17A0-76FAB78EB1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C4924-472A-EE7F-52DA-BF7920701B3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13B2283-C31E-F948-99E1-5B1C656355A1}" type="slidenum">
              <a:t>52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0E5F3-E92F-EA03-3670-105B6F58000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9E023-828A-FF65-5230-EA550A63C5A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9EF1D-1855-0BE4-5AC1-5FDC729948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6C6D6B10-8198-A349-B26E-FDD890542273}" type="slidenum">
              <a:t>53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78CBE-F24E-4292-6277-B66DB3D70E5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102C7-581C-CC94-476C-41A70C4663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4B749-74A4-139A-0214-294DA1CA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E95BA-E3F9-C939-227B-FD72E5B648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FDA4B4B5-6CC4-0D46-BA94-EFFB7805E336}" type="slidenum">
              <a:t>54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D4C3F-9994-0C81-D697-340F19E72CA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3AC4E-ACCE-C8D3-1327-5F5A0BC081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8535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62B5D-4E33-3188-3890-DA409315462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6B24497-728D-DF42-80D8-0566160AC1E3}" type="slidenum">
              <a:t>55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AC3B0-4F12-01C8-AE20-209ED1AEA7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BB9C5-9398-D2CF-04C7-0F6BCC006DB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94CB8-247B-24E5-DE82-E97CE9E44D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C059742-795A-7D4C-8BB4-08EDE3E536AE}" type="slidenum">
              <a:t>56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6E435-B07E-8ED2-BE37-C8A310E073C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80093-759F-88A0-03B7-3883C3D12D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6FB9B-E431-5A71-0845-DDF74F154FE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3E6444F6-1111-A343-A50C-E482FC262B3A}" type="slidenum">
              <a:t>57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9AFFB-2B37-2490-1C9E-4BCAEC8B78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8314A-916C-4CD0-E954-1F4CEC9B5F1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C040F-A737-4595-2300-7EEC726D6CB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4F59AC98-6880-E046-882F-60DCCF89B0BF}" type="slidenum">
              <a:t>58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FE332-4EDD-5AE4-8D92-F7EF2301F7B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CA37C-CB55-C57E-F2C8-30E69A9D5A3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FF507-2464-E19A-A4CB-A84BDD13D43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9C8E48AA-FF02-9241-8184-07537F39E279}" type="slidenum">
              <a:t>59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08ACD-BF7A-1E6C-6E2C-D1C0D1386F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C25FC-0AFA-24D2-2602-705EBC4D7A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D7F67-F19B-12E5-4B54-81E87DE34C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4D4BCF0C-1DBB-F742-8B0F-287B90803943}" type="slidenum">
              <a:t>60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674FF-E95B-9BA5-0BE2-DE37A2383BC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453F5-6F00-2DA6-F043-F7CB49C752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5C477-61CD-4CEC-A624-BD9F4F09E1E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93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02A1-C300-3CBC-FE0A-EDAF81B03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322C4-FCC7-25B7-EEC9-BC1561CB8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1FA9B-00BE-EEFA-A668-3604512A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B865B-93D5-BF0D-A189-AB1F5BA1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105C-2166-30A1-D667-51F426BB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3BC35CE-9549-F14D-9A0C-3FB48A5010A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3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8233-A1FA-0522-727F-682CF7FD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A996C-99DA-0C8E-520F-A4CE9F550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BA276-9BE6-BEEE-5A53-3A3A084C1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F0C77-D5E1-34FB-1911-36AA2B4AA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AAC64-13BB-C4B4-7DEB-982EBB98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AE23F1-3772-0C46-ABC1-B2B784B89F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27F8-7C8F-2B1E-05F0-09C9A548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41E-B8A9-5EDC-ECEF-0B71ED520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0D017-2DC1-10D6-8F01-F5DEE240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4C00B-D277-52F1-9DB0-E7AE242C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1D60-D32C-CD78-09F6-C131D9DA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6DB641B-3BB3-7A4C-ABD9-1ABA27958E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64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A0590-CFB1-0089-654D-DF772B08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802CA-D632-0BA2-914E-229D8740F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B5A13-888E-9A92-0739-7F6D634CA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6630D-F5DC-D8D9-DDBC-501636F0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B7F5B-B899-40CB-0352-B40E9C53A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A8EB2-0461-8F4F-B06E-638EED38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9B50C56-A289-094D-ACE2-7631F54C79D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1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85FF-EA4E-F01C-7C05-3E704FA9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7DB28-423F-A65A-6CBF-BC0C26C8B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8AB7F-B69D-D381-67BA-36B152D0D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2E10E-03A8-AF36-69FB-AD9CC7103A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20D92-2DF7-1C05-569D-EEB583F1D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50DC0-8A58-728A-6EBF-044AE54D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5D62FA-C3AE-11A0-CBD5-D94D1B782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D7166E-90C4-BB01-7B0D-E78564A8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E681C48-04EF-EE40-B29B-4293A947ECA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37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CECE-EE7F-4C99-2FE0-F8B61D6D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AFE30-4121-65E4-01B3-537D1903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A4D0A-9CF7-558A-BFED-8ADA7107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2D01D-0630-28A2-A155-21546594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93C3BC-2640-1944-8920-D5737E3FE3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FC07F8-164A-A3F1-6F1C-80A34B6B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1523FA-3984-3D56-6782-E58437FB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8B128-736B-FA10-767D-B27B7D3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9D0EE8-C26E-FC4C-AFD4-DA27F5339F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420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3AA7-C4C3-D212-0A00-DE65DAB0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A31E9-539E-E204-B739-95C503F1E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A51D3-8B69-73FF-595A-A3D28CEE5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EDA9C-1FB5-86F1-9C7F-225F3D42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1F31E-783B-FFF0-FC85-84BDBEA2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F8C40-5AE9-2324-A476-BBFBDA36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9FB631-D502-9440-9734-0F48B51A1F1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8059-683E-22FC-3345-C780AA44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25940-522B-8D7D-8D20-7B282DBF4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F395C-6CA3-AA42-AFA9-43529A34D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90DCA-3549-AB5E-712B-1D183510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C59C6-A591-EE69-F842-A830F2DE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ECA2A-8D46-C71E-B94C-1BEADC73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3421658-8329-5448-8E68-CAC1092E14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400CD-0166-76C9-998B-A3BC5075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638AD-C3CB-E1A9-2EBC-1C6B1A369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DBFBA-3BCE-6EBA-A64C-AEF18A42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C617D-E3B3-A2BE-5ADA-FCFDBE04C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82057-8C85-5019-2949-34A9FBEF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2D7ADA-48F1-9643-989F-F1C9D5B47C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87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A6D2DA-E46B-C4F2-C254-3EBE1F4B7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FDA03-9930-0C70-E398-D8BAF56A0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1E3D9-5DE2-11B5-F432-B47CB968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1CD85-0AA9-CA4E-6073-51E372C7F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0CBAE-C6AE-CCB9-A1F4-A6C690B1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241624-DADB-D048-8578-7ED08C6EF15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9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3BE39-90C4-BEA9-EEDF-D415C8AF9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B3C75-4DCE-0ECB-3F72-789BD2B243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02689-6257-AFF0-B0AE-E5DCE142F81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2E8AB-2A65-8BAD-E92F-BEAD0283389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algn="ctr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989D3-F471-40EC-A50C-C846FF0DE30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lvl="0" algn="r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E4F997DD-4F32-9E43-829F-0DF88249816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4400" b="0" i="0" u="none" strike="noStrike" kern="1200">
          <a:ln>
            <a:noFill/>
          </a:ln>
          <a:latin typeface="Liberation Sans" pitchFamily="18"/>
        </a:defRPr>
      </a:lvl1pPr>
    </p:titleStyle>
    <p:bodyStyle>
      <a:lvl1pPr marL="0" marR="0" indent="0" hangingPunct="0">
        <a:spcBef>
          <a:spcPts val="0"/>
        </a:spcBef>
        <a:spcAft>
          <a:spcPts val="1414"/>
        </a:spcAft>
        <a:tabLst/>
        <a:defRPr lang="en-US" sz="3200" b="0" i="0" u="none" strike="noStrike" kern="1200">
          <a:ln>
            <a:noFill/>
          </a:ln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gcc.gnu.org/onlinedocs/gcc/Optimize-Options.html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X86_calling_conventions#System_V_AMD64_ABI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books.org/wiki/X86_Disassembly/Functions_and_Stack_Frames" TargetMode="External"/><Relationship Id="rId7" Type="http://schemas.openxmlformats.org/officeDocument/2006/relationships/hyperlink" Target="https://en.wikipedia.org/wiki/X86_calling_conventions#System_V_AMD64_ABI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stackoverflow.com/questions/14666665/trying-to-understand-gcc-option-fomit-frame-pointer" TargetMode="External"/><Relationship Id="rId5" Type="http://schemas.openxmlformats.org/officeDocument/2006/relationships/hyperlink" Target="https://en.wikipedia.org/wiki/X86_calling_conventions" TargetMode="External"/><Relationship Id="rId4" Type="http://schemas.openxmlformats.org/officeDocument/2006/relationships/hyperlink" Target="https://en.wikipedia.org/wiki/Calling_convention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58F-EB46-20E2-EBEE-6E64DFBA5B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1615577"/>
            <a:ext cx="9071640" cy="2031325"/>
          </a:xfrm>
        </p:spPr>
        <p:txBody>
          <a:bodyPr>
            <a:spAutoFit/>
          </a:bodyPr>
          <a:lstStyle/>
          <a:p>
            <a:pPr lvl="0"/>
            <a:r>
              <a:rPr lang="en-US" dirty="0"/>
              <a:t>cs5460/6460 Operating Systems</a:t>
            </a:r>
            <a:br>
              <a:rPr lang="en-US" dirty="0"/>
            </a:br>
            <a:r>
              <a:rPr lang="en-US" dirty="0"/>
              <a:t>Lecture 4: Function invocations, and calling conventions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017C4-91BD-4377-6683-383B8D933BB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765224"/>
            <a:ext cx="9071640" cy="3113673"/>
          </a:xfrm>
        </p:spPr>
        <p:txBody>
          <a:bodyPr anchor="ctr">
            <a:spAutoFit/>
          </a:bodyPr>
          <a:lstStyle/>
          <a:p>
            <a:pPr lvl="0" algn="ctr"/>
            <a:endParaRPr lang="en-US" dirty="0"/>
          </a:p>
          <a:p>
            <a:pPr lvl="0" algn="ctr"/>
            <a:endParaRPr lang="en-US" sz="1400" dirty="0"/>
          </a:p>
          <a:p>
            <a:pPr lvl="0" algn="ctr"/>
            <a:endParaRPr lang="en-US" sz="2600" dirty="0"/>
          </a:p>
          <a:p>
            <a:pPr lvl="0" algn="ctr"/>
            <a:endParaRPr lang="en-US" sz="2000" dirty="0"/>
          </a:p>
          <a:p>
            <a:pPr lvl="0" algn="ctr"/>
            <a:r>
              <a:rPr lang="en-US" sz="2600" dirty="0"/>
              <a:t>Anton Burtsev</a:t>
            </a:r>
          </a:p>
          <a:p>
            <a:pPr lvl="0" algn="ctr"/>
            <a:r>
              <a:rPr lang="en-US" sz="2600" dirty="0"/>
              <a:t>January,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4EE0693-4993-7691-8599-732B49EB4CD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800"/>
              <a:t>Stack and procedure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291BE81-DD91-8451-498D-85EE3E06F0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5400"/>
              <a:t>What is stack?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9D2E49-FA9C-E07A-A907-FFB0AEE8C1D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03640" y="111600"/>
            <a:ext cx="4885560" cy="73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E1E9BE6-C350-10E9-A713-B327B9DAA1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5211000" cy="1262160"/>
          </a:xfrm>
        </p:spPr>
        <p:txBody>
          <a:bodyPr/>
          <a:lstStyle/>
          <a:p>
            <a:pPr lvl="0"/>
            <a:r>
              <a:rPr lang="en-US"/>
              <a:t>Stack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EEAFA-D7DA-5763-6AFB-68D3394D113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172504" cy="4384440"/>
          </a:xfrm>
        </p:spPr>
        <p:txBody>
          <a:bodyPr>
            <a:normAutofit lnSpcReduction="10000"/>
          </a:bodyPr>
          <a:lstStyle/>
          <a:p>
            <a:pPr marL="571500" lvl="0" indent="-571500">
              <a:buSzPct val="100000"/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It's just a region of memory</a:t>
            </a:r>
          </a:p>
          <a:p>
            <a:pPr marL="1028700" lvl="2" indent="-5715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Pointed by a special register RSP</a:t>
            </a:r>
          </a:p>
          <a:p>
            <a:pPr marL="571500" lvl="0" indent="-571500">
              <a:buSzPct val="100000"/>
              <a:buFont typeface="Arial" panose="020B0604020202020204" pitchFamily="34" charset="0"/>
              <a:buChar char="•"/>
            </a:pP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You can change RSP</a:t>
            </a:r>
          </a:p>
          <a:p>
            <a:pPr marL="1028700" lvl="2" indent="-5715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Get a new stack</a:t>
            </a:r>
          </a:p>
          <a:p>
            <a:pPr marL="571500" lvl="1" indent="-571500" hangingPunct="0">
              <a:spcBef>
                <a:spcPts val="0"/>
              </a:spcBef>
              <a:spcAft>
                <a:spcPts val="1414"/>
              </a:spcAft>
              <a:buSzPct val="45000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025FB-1199-70C2-F824-71CD072A2F4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60840" y="225540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75B40-2421-7CE8-E889-335CE804AF9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5388840" y="1380960"/>
            <a:ext cx="822600" cy="55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BC247D-1922-CBA1-426F-55F66A0EB353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289560" y="5824800"/>
            <a:ext cx="2120760" cy="133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C3A93C-6757-1932-278F-C0AAB9482240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5388840" y="1380960"/>
            <a:ext cx="804240" cy="5914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1D496CA-591A-8ADA-BA64-B2B8CC1337A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400"/>
              <a:t>Why do we need stack?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C962E98-A7BC-9F6F-1E43-D8477B6339C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400"/>
              <a:t>Stack allows us to invoke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70C1-7EC3-DAED-88D6-5698681E1B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Calling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BF8DA-AA18-CDBF-8D95-9949286740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426920" cy="4384440"/>
          </a:xfrm>
        </p:spPr>
        <p:txBody>
          <a:bodyPr>
            <a:normAutofit fontScale="92500" lnSpcReduction="20000"/>
          </a:bodyPr>
          <a:lstStyle/>
          <a:p>
            <a:pPr lvl="0"/>
            <a:endParaRPr lang="en-US" dirty="0"/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// some code...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foo();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// more code..</a:t>
            </a:r>
          </a:p>
          <a:p>
            <a:pPr lvl="0"/>
            <a:endParaRPr lang="en-US" dirty="0"/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Stack contains information for </a:t>
            </a:r>
            <a:r>
              <a:rPr lang="en-US" dirty="0">
                <a:solidFill>
                  <a:srgbClr val="1B75BC"/>
                </a:solidFill>
              </a:rPr>
              <a:t>how to return</a:t>
            </a:r>
            <a:r>
              <a:rPr lang="en-US" dirty="0"/>
              <a:t> from a subroutine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i.e., from </a:t>
            </a:r>
            <a:r>
              <a:rPr lang="en-US" sz="3200" dirty="0">
                <a:solidFill>
                  <a:srgbClr val="0070C0"/>
                </a:solidFill>
                <a:latin typeface="Liberation Sans" pitchFamily="18"/>
              </a:rPr>
              <a:t>foo()</a:t>
            </a: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C54D3-76C6-A392-2953-D9A3603CE1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769040"/>
            <a:ext cx="4426920" cy="4384440"/>
          </a:xfrm>
        </p:spPr>
        <p:txBody>
          <a:bodyPr>
            <a:normAutofit fontScale="925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Functions can be called from different places in the program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</a:rPr>
              <a:t>       </a:t>
            </a: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if (a == 0) {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foo();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…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} else {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foo();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…</a:t>
            </a:r>
          </a:p>
          <a:p>
            <a:pPr lvl="0"/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45D2-E11E-DE5C-F425-8C259F12705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4982400" cy="1262160"/>
          </a:xfrm>
        </p:spPr>
        <p:txBody>
          <a:bodyPr/>
          <a:lstStyle/>
          <a:p>
            <a:pPr lvl="0"/>
            <a:r>
              <a:rPr lang="en-US"/>
              <a:t>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7179A-2275-2EE4-F4AF-7DFDB3C537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Main purpose: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Store the return address for the current procedure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Caller</a:t>
            </a:r>
            <a:r>
              <a:rPr lang="en-US" sz="3200" dirty="0">
                <a:latin typeface="Liberation Sans" pitchFamily="18"/>
              </a:rPr>
              <a:t> pushes return address on the stack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Callee</a:t>
            </a:r>
            <a:r>
              <a:rPr lang="en-US" sz="3200" dirty="0">
                <a:latin typeface="Liberation Sans" pitchFamily="18"/>
              </a:rPr>
              <a:t> pops it and jumps</a:t>
            </a: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F17E21E0-9C09-E757-BC17-40501ADA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80" y="49392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3DF66E-D75D-F2D2-C57D-E9107DCF161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64200" y="16365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D6641-B242-33BA-30CA-E470FE2A09D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6172200" y="1273680"/>
            <a:ext cx="822600" cy="68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74709-247E-D02F-9248-EC3ED7D1E5F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172200" y="1636560"/>
            <a:ext cx="804240" cy="29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9152CF-27AE-587A-B6BA-CC5F8616F6B3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7012440" y="1389240"/>
            <a:ext cx="2111760" cy="478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D7B5E6-0F33-54BE-31E9-E6BDD1EDDC1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8229600" y="1610640"/>
            <a:ext cx="1245960" cy="158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39142B-37D3-C0C7-6FB5-0200F72D0CF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6172200" y="1246680"/>
            <a:ext cx="822600" cy="24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55EA-89F2-D883-440A-361DA2E148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4982400" cy="1262160"/>
          </a:xfrm>
        </p:spPr>
        <p:txBody>
          <a:bodyPr/>
          <a:lstStyle/>
          <a:p>
            <a:pPr lvl="0"/>
            <a:r>
              <a:rPr lang="en-US"/>
              <a:t>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1BF02-EFB7-8719-D848-1AC05B4E92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982400" cy="438444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Main purpose: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Store the return address for the current procedure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Caller</a:t>
            </a:r>
            <a:r>
              <a:rPr lang="en-US" sz="3200" dirty="0">
                <a:latin typeface="Liberation Sans" pitchFamily="18"/>
              </a:rPr>
              <a:t> pushes return address on the stack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solidFill>
                  <a:srgbClr val="1B75BC"/>
                </a:solidFill>
                <a:latin typeface="Liberation Sans" pitchFamily="18"/>
              </a:rPr>
              <a:t>Callee</a:t>
            </a:r>
            <a:r>
              <a:rPr lang="en-US" sz="3200" dirty="0">
                <a:latin typeface="Liberation Sans" pitchFamily="18"/>
              </a:rPr>
              <a:t> pops it and jumps</a:t>
            </a: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F17DC4C6-8143-178C-6F6D-C775898D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80" y="493920"/>
            <a:ext cx="3409920" cy="68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14706C-D238-A4FF-A823-E8380B05808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64200" y="1636560"/>
            <a:ext cx="804240" cy="156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12E95A-72E9-2E3E-4AAC-012E9F4ECA6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 rot="10800000" flipH="1">
            <a:off x="6172200" y="1310040"/>
            <a:ext cx="822600" cy="61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E4C91E-429B-08F5-2DD3-B45DEFAD799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172200" y="1636560"/>
            <a:ext cx="804240" cy="407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4D7B75-6B52-6EB5-3350-9875366D636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7032240" y="1371600"/>
            <a:ext cx="2111760" cy="478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F4130B-D85C-17AD-5107-037E71C8A273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8229600" y="1600200"/>
            <a:ext cx="124596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DBDBB4-E4B2-15A0-36E7-FF9BA6DF43F8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6172200" y="1251000"/>
            <a:ext cx="822600" cy="24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"/>
                            </p:stCondLst>
                            <p:childTnLst>
                              <p:par>
                                <p:cTn id="15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"/>
                            </p:stCondLst>
                            <p:childTnLst>
                              <p:par>
                                <p:cTn id="18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2"/>
                            </p:stCondLst>
                            <p:childTnLst>
                              <p:par>
                                <p:cTn id="2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9A92-4768-74D9-C203-9044B0A6DA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D3164-4FC0-BC46-22E7-B6B0484C90A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426920" cy="4384440"/>
          </a:xfrm>
        </p:spPr>
        <p:txBody>
          <a:bodyPr/>
          <a:lstStyle/>
          <a:p>
            <a:pPr lvl="0"/>
            <a:endParaRPr lang="en-US" dirty="0"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foo(int a) {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if (a == 0)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return;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a--;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foo(a);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return;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foo(4);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CE80-3B66-FE6E-2220-D59CD275A8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Manipulating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62BEF-0A4B-C03F-FEB8-911582D824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068000" cy="4989240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RSP register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the memory address of the topmost element in the stack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instruction</a:t>
            </a:r>
          </a:p>
          <a:p>
            <a:r>
              <a:rPr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     push 0xBAR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Subtract 8 from RSP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data on the stack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51B92-6097-C4CB-4095-F85B1497929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1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5B5630-3A0B-1A23-6091-EEDAB7E1834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86400" y="1371600"/>
            <a:ext cx="822600" cy="24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7366B8-D92B-E5BB-9452-153E1CF690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029200" y="228600"/>
            <a:ext cx="4885560" cy="73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F8FCF0-F20A-306F-D5B4-4E659F334E2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486400" y="1457640"/>
            <a:ext cx="82260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0D1F4-469C-CFDC-6930-7A82794FA74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330240" y="1524240"/>
            <a:ext cx="2105640" cy="47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6EC4BE-1B97-DF78-A40E-DA676034058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520"/>
            <a:ext cx="804240" cy="14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0948-C980-0DCE-1DE5-17036073DD8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Manipulating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5562E-43FA-2702-4C0A-3DB7592518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4068000" cy="498924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instruction</a:t>
            </a:r>
          </a:p>
          <a:p>
            <a:r>
              <a:rPr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     pop RAX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Removes data from the stack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Saves in register or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 8 to RSP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26723-ED86-6C14-B248-018FD214741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160"/>
            <a:ext cx="804240" cy="9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EC873A-CDE9-F3A9-E8DF-8D65B9D7F70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86400" y="1371600"/>
            <a:ext cx="822600" cy="24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9DF6C5-BAC7-171D-EF9C-0F760CE26DB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029200" y="228600"/>
            <a:ext cx="4885560" cy="73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79491C-9557-3CA8-DBED-582E95FCC56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486400" y="1457640"/>
            <a:ext cx="82260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2A5081-C971-D8AF-CB08-A63DF4723AA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330240" y="1524240"/>
            <a:ext cx="2105640" cy="47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091C4C-834C-D90E-9EED-E2D948BA8F3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0" y="2405160"/>
            <a:ext cx="804240" cy="14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064C36-5215-6702-4D31-87387137EA88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4717800" y="5333760"/>
            <a:ext cx="1349640" cy="15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"/>
                            </p:stCondLst>
                            <p:childTnLst>
                              <p:par>
                                <p:cTn id="18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F2A4223-71E5-B46B-97D3-9630EC883AD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800"/>
              <a:t>Calling conventions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2108-F86E-7B87-5CEB-1A2AD81570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Calling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8972A-41DA-1E37-14F7-EE6D0CC3697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4989240"/>
          </a:xfrm>
        </p:spPr>
        <p:txBody>
          <a:bodyPr>
            <a:normAutofit fontScale="85000" lnSpcReduction="1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Goal: </a:t>
            </a:r>
            <a:r>
              <a:rPr lang="en-US" dirty="0">
                <a:solidFill>
                  <a:srgbClr val="0070C0"/>
                </a:solidFill>
              </a:rPr>
              <a:t>re-entrant programs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How to pass </a:t>
            </a:r>
            <a:r>
              <a:rPr lang="en-US" sz="3200" dirty="0">
                <a:solidFill>
                  <a:srgbClr val="0070C0"/>
                </a:solidFill>
                <a:latin typeface="Liberation Sans" pitchFamily="18"/>
              </a:rPr>
              <a:t>arguments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On the stack?</a:t>
            </a:r>
          </a:p>
          <a:p>
            <a:pPr marL="914400" lvl="3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000" dirty="0">
                <a:latin typeface="Liberation Sans" pitchFamily="18"/>
              </a:rPr>
              <a:t>In registers?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How to </a:t>
            </a:r>
            <a:r>
              <a:rPr lang="en-US" sz="3200" dirty="0">
                <a:solidFill>
                  <a:srgbClr val="0070C0"/>
                </a:solidFill>
                <a:latin typeface="Liberation Sans" pitchFamily="18"/>
              </a:rPr>
              <a:t>return values</a:t>
            </a:r>
          </a:p>
          <a:p>
            <a:pPr marL="914400" lvl="3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000" dirty="0">
                <a:latin typeface="Liberation Sans" pitchFamily="18"/>
              </a:rPr>
              <a:t>On the stack?</a:t>
            </a:r>
          </a:p>
          <a:p>
            <a:pPr marL="914400" lvl="3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000" dirty="0">
                <a:latin typeface="Liberation Sans" pitchFamily="18"/>
              </a:rPr>
              <a:t>In registers?  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How to save and restore </a:t>
            </a:r>
            <a:r>
              <a:rPr lang="en-US" dirty="0">
                <a:solidFill>
                  <a:srgbClr val="0070C0"/>
                </a:solidFill>
              </a:rPr>
              <a:t>registers</a:t>
            </a:r>
            <a:r>
              <a:rPr lang="en-US" dirty="0"/>
              <a:t> across invocations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Conventions vary between compilers, optimizations, etc.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6DC2-47FF-18D1-DE6E-CAFBF3ABB31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Idea 1: Maintain stack as frames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E7444-2180-B289-229E-BCF8B995ED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3382200" cy="5180400"/>
          </a:xfrm>
        </p:spPr>
        <p:txBody>
          <a:bodyPr>
            <a:normAutofit fontScale="700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400" dirty="0"/>
              <a:t>Each function has a new frame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endParaRPr lang="en-US" sz="2600" dirty="0">
              <a:solidFill>
                <a:srgbClr val="990000"/>
              </a:solidFill>
              <a:latin typeface="LM Mono 10" pitchFamily="17"/>
            </a:endParaRP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void </a:t>
            </a:r>
            <a:r>
              <a:rPr lang="en-US" sz="2600" dirty="0" err="1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DrawSquare</a:t>
            </a: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(...)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...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sz="2600" dirty="0" err="1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DrawLine</a:t>
            </a: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(x, y, z);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lnSpc>
                <a:spcPct val="120000"/>
              </a:lnSpc>
            </a:pPr>
            <a:endParaRPr lang="en-US" dirty="0"/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400" dirty="0"/>
              <a:t>Use dedicated register </a:t>
            </a:r>
            <a:r>
              <a:rPr lang="en-US" sz="3400" dirty="0">
                <a:solidFill>
                  <a:srgbClr val="0070C0"/>
                </a:solidFill>
              </a:rPr>
              <a:t>RBP</a:t>
            </a:r>
            <a:r>
              <a:rPr lang="en-US" sz="3400" b="1" dirty="0"/>
              <a:t> </a:t>
            </a:r>
            <a:r>
              <a:rPr lang="en-US" sz="3400" dirty="0"/>
              <a:t>(frame pointer)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400" dirty="0">
                <a:latin typeface="Liberation Sans" pitchFamily="18"/>
              </a:rPr>
              <a:t>Points to the base of the frame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66A6F-7793-40D9-2DA2-0BA46450B91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15360" y="1804319"/>
            <a:ext cx="5914439" cy="482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CBB5F-FD23-20EE-A4B5-003E4793D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B4151-D7C6-FBB1-D6A9-C1C508BE037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Idea 1: Maintain stack as frames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5365A-3F34-1175-4E19-1120B375A6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3382200" cy="5180400"/>
          </a:xfrm>
        </p:spPr>
        <p:txBody>
          <a:bodyPr>
            <a:normAutofit fontScale="700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400" dirty="0"/>
              <a:t>Each function has a new frame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endParaRPr lang="en-US" sz="2600" dirty="0">
              <a:solidFill>
                <a:srgbClr val="990000"/>
              </a:solidFill>
              <a:latin typeface="LM Mono 10" pitchFamily="17"/>
            </a:endParaRP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void </a:t>
            </a:r>
            <a:r>
              <a:rPr lang="en-US" sz="2600" dirty="0" err="1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DrawSquare</a:t>
            </a: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(...)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...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sz="2600" dirty="0" err="1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DrawLine</a:t>
            </a: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(x, y, z);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lnSpc>
                <a:spcPct val="120000"/>
              </a:lnSpc>
            </a:pPr>
            <a:endParaRPr lang="en-US" dirty="0"/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400" dirty="0"/>
              <a:t>Use dedicated register </a:t>
            </a:r>
            <a:r>
              <a:rPr lang="en-US" sz="3400" dirty="0">
                <a:solidFill>
                  <a:srgbClr val="0070C0"/>
                </a:solidFill>
              </a:rPr>
              <a:t>RBP</a:t>
            </a:r>
            <a:r>
              <a:rPr lang="en-US" sz="3400" b="1" dirty="0"/>
              <a:t> </a:t>
            </a:r>
            <a:r>
              <a:rPr lang="en-US" sz="3400" dirty="0"/>
              <a:t>(frame pointer)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400" dirty="0">
                <a:latin typeface="Liberation Sans" pitchFamily="18"/>
              </a:rPr>
              <a:t>Points to the base of the frame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51E49-C984-08CB-9600-3894AC0635F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15360" y="1804319"/>
            <a:ext cx="5914439" cy="48250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6A09C6F3-17C4-CC84-4DD3-62EA40116612}"/>
              </a:ext>
            </a:extLst>
          </p:cNvPr>
          <p:cNvSpPr/>
          <p:nvPr/>
        </p:nvSpPr>
        <p:spPr>
          <a:xfrm>
            <a:off x="3886199" y="4275908"/>
            <a:ext cx="5943599" cy="228164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157622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E75D-3085-1912-6D71-8429A4FC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4B16-0729-21C1-48B4-1A9AC6D57F2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Idea 1: Maintain stack as frames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AD70-0002-14A2-45D7-A08367FC0F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3382200" cy="5180400"/>
          </a:xfrm>
        </p:spPr>
        <p:txBody>
          <a:bodyPr>
            <a:normAutofit fontScale="700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400" dirty="0"/>
              <a:t>Each function has a new frame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endParaRPr lang="en-US" sz="2600" dirty="0">
              <a:solidFill>
                <a:srgbClr val="990000"/>
              </a:solidFill>
              <a:latin typeface="LM Mono 10" pitchFamily="17"/>
            </a:endParaRP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void </a:t>
            </a:r>
            <a:r>
              <a:rPr lang="en-US" sz="2600" dirty="0" err="1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DrawSquare</a:t>
            </a: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(...)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...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  <a:r>
              <a:rPr lang="en-US" sz="2600" dirty="0" err="1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DrawLine</a:t>
            </a:r>
            <a:r>
              <a:rPr lang="en-US" sz="26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(x, y, z);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lnSpc>
                <a:spcPct val="120000"/>
              </a:lnSpc>
            </a:pPr>
            <a:endParaRPr lang="en-US" dirty="0"/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400" dirty="0"/>
              <a:t>Use dedicated register </a:t>
            </a:r>
            <a:r>
              <a:rPr lang="en-US" sz="3400" dirty="0">
                <a:solidFill>
                  <a:srgbClr val="0070C0"/>
                </a:solidFill>
              </a:rPr>
              <a:t>RBP</a:t>
            </a:r>
            <a:r>
              <a:rPr lang="en-US" sz="3400" b="1" dirty="0"/>
              <a:t> </a:t>
            </a:r>
            <a:r>
              <a:rPr lang="en-US" sz="3400" dirty="0"/>
              <a:t>(frame pointer)</a:t>
            </a:r>
          </a:p>
          <a:p>
            <a:pPr marL="457200" lvl="1" indent="-4572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400" dirty="0">
                <a:latin typeface="Liberation Sans" pitchFamily="18"/>
              </a:rPr>
              <a:t>Points to the base of the frame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B94427-BDE0-1E06-D842-E56AB860EB8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15360" y="1804319"/>
            <a:ext cx="5914439" cy="48250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334A77AF-9BDE-F552-EDD7-A446387EE210}"/>
              </a:ext>
            </a:extLst>
          </p:cNvPr>
          <p:cNvSpPr/>
          <p:nvPr/>
        </p:nvSpPr>
        <p:spPr>
          <a:xfrm>
            <a:off x="3886199" y="1769040"/>
            <a:ext cx="5943599" cy="253081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479622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879A-5D1F-5155-6AF1-CD8F12D79E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Prologue/epilogue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09A51-D71F-5731-56C6-136EA48915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4989240"/>
          </a:xfrm>
        </p:spPr>
        <p:txBody>
          <a:bodyPr>
            <a:normAutofit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Each function maintains the frame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 dedicated register 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RBP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is used to keep the frame pointer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Each function uses 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prologue code (blue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), and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epilogue (green)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to maintain the frame</a:t>
            </a: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</a:pPr>
            <a:endParaRPr lang="en-US" sz="2600" dirty="0">
              <a:latin typeface="Liberation Sans" pitchFamily="18"/>
            </a:endParaRPr>
          </a:p>
          <a:p>
            <a:pPr lvl="0">
              <a:spcAft>
                <a:spcPts val="0"/>
              </a:spcAft>
            </a:pPr>
            <a:r>
              <a:rPr lang="en-US" sz="20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lang="en-US" sz="20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: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push </a:t>
            </a:r>
            <a:r>
              <a:rPr lang="en-US" sz="2000" dirty="0" err="1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0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; save original RBP value on stack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mov </a:t>
            </a:r>
            <a:r>
              <a:rPr lang="en-US" sz="2000" dirty="0" err="1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0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000" dirty="0" err="1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lang="en-US" sz="20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; new RBP = RSP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…                ; function body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pop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; restore original RBP value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ret</a:t>
            </a:r>
          </a:p>
          <a:p>
            <a:pPr lvl="0">
              <a:spcAft>
                <a:spcPts val="0"/>
              </a:spcAft>
            </a:pPr>
            <a:endParaRPr lang="en-US" sz="2600" dirty="0"/>
          </a:p>
          <a:p>
            <a:pPr lvl="0">
              <a:spcAft>
                <a:spcPts val="0"/>
              </a:spcAft>
            </a:pPr>
            <a:endParaRPr lang="en-US" sz="2600" dirty="0"/>
          </a:p>
          <a:p>
            <a:pPr lvl="0">
              <a:spcAft>
                <a:spcPts val="0"/>
              </a:spcAft>
            </a:pP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3C8D6F3-8173-67EB-C49D-AEA35424467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800"/>
              <a:t>Local variables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AB5F8-8C85-C986-93ED-7276C3DD488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What types of variables do you know?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5C806-A36E-87BE-2A2A-A8AA12322A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438480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Or where these variables are allocated in memory?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EDA8-A33D-F499-3BCA-5E3D989243E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What types of variables do you know?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D8C98-0B24-EC49-29BB-C23A5732DEF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769040"/>
            <a:ext cx="8567641" cy="4384800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Global</a:t>
            </a:r>
            <a:r>
              <a:rPr lang="en-US" dirty="0"/>
              <a:t> variables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Initialized → data section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 err="1">
                <a:latin typeface="Liberation Sans" pitchFamily="18"/>
              </a:rPr>
              <a:t>Uninitalized</a:t>
            </a:r>
            <a:r>
              <a:rPr lang="en-US" sz="2800" dirty="0">
                <a:latin typeface="Liberation Sans" pitchFamily="18"/>
              </a:rPr>
              <a:t> → BSS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Dynamic</a:t>
            </a:r>
            <a:r>
              <a:rPr lang="en-US" dirty="0"/>
              <a:t> variables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Heap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Local</a:t>
            </a:r>
            <a:r>
              <a:rPr lang="en-US" dirty="0"/>
              <a:t> variables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Stack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EB70-D805-DD95-58E8-00CCE76B289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Global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649A0-F8EE-CB46-00FB-627728F9466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lvl="0"/>
            <a:endParaRPr lang="en-US" sz="3000" dirty="0"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#include &lt;</a:t>
            </a:r>
            <a:r>
              <a:rPr lang="en-US" sz="30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stdio.h</a:t>
            </a: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&gt;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endParaRPr lang="en-US" sz="3000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b="1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char hello[] = "Hello";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int main(int ac, char **av)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{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b="1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static char world[] = "world!";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lang="en-US" sz="30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printf</a:t>
            </a: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("%s %s\n", hello, world);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return 0;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}</a:t>
            </a:r>
          </a:p>
          <a:p>
            <a:pPr lvl="0"/>
            <a:endParaRPr lang="en-US" dirty="0">
              <a:solidFill>
                <a:srgbClr val="000000"/>
              </a:solidFill>
              <a:latin typeface="Liberation Sans" pitchFamily="34"/>
            </a:endParaRP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None/>
            </a:pPr>
            <a:endParaRPr lang="en-US" sz="3200" dirty="0">
              <a:solidFill>
                <a:srgbClr val="000000"/>
              </a:solidFill>
              <a:latin typeface="Liberation Sans" pitchFamily="34"/>
            </a:endParaRP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None/>
            </a:pPr>
            <a:endParaRPr lang="en-US" sz="3200" dirty="0">
              <a:solidFill>
                <a:srgbClr val="000000"/>
              </a:solidFill>
              <a:latin typeface="Liberation Sans" pitchFamily="34"/>
            </a:endParaRPr>
          </a:p>
          <a:p>
            <a:pPr lvl="0">
              <a:spcAft>
                <a:spcPts val="0"/>
              </a:spcAft>
            </a:pPr>
            <a:endParaRPr lang="en-US" b="1" dirty="0">
              <a:solidFill>
                <a:srgbClr val="94476B"/>
              </a:solidFill>
              <a:latin typeface="LMMono10" pitchFamily="1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E04C-9958-88F2-D849-557E24293D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Global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F23E6-E975-B4F4-D67F-9A396B0ECC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 fontScale="70000" lnSpcReduction="20000"/>
          </a:bodyPr>
          <a:lstStyle/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#include &lt;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stdio.h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&gt;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endParaRPr lang="en-US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b="1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char hello[] = "Hello";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int main(int ac, char **av)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{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b="1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static char world[] = "world!";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printf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("%s %s\n", hello, world);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return 0;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}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</a:pPr>
            <a:endParaRPr lang="en-US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Allocated in the data section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split into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Initialized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(non-zero), and </a:t>
            </a:r>
            <a:r>
              <a:rPr lang="en-US" sz="3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uninitialized 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(zero)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Read/write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3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read-only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sections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BF9B-4511-0258-2A3E-1AFF005995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Global variables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9284-89E6-FA86-7B32-511ADD7E60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Dynamic variables (heap)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F9610-2ACB-E9A6-ED00-C28FDCD86FC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#include &lt;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stdio.h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&gt;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#include &lt;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string.h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&gt;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#include &lt;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stdlib.h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&gt;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endParaRPr lang="en-US" sz="2400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char hello[] = "Hello";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int main(int ac, char **av)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{   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char world[] = "world!";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</a:t>
            </a:r>
            <a:r>
              <a:rPr lang="en-US" sz="2400" b="1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char *str = malloc(64);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memcpy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(str, "beautiful", 64);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lang="en-US" sz="24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printf</a:t>
            </a: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("%s %s %s\n", hello, str, world);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return 0;</a:t>
            </a:r>
          </a:p>
          <a:p>
            <a:pPr lvl="0">
              <a:lnSpc>
                <a:spcPct val="11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sz="24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7FAB-75D2-5B5A-937F-9346BB31EF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Dynamic variables (heap)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EB9E7-F092-15C0-B0FD-EE282470EA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463039"/>
            <a:ext cx="9071640" cy="5795315"/>
          </a:xfrm>
        </p:spPr>
        <p:txBody>
          <a:bodyPr>
            <a:normAutofit fontScale="62500" lnSpcReduction="20000"/>
          </a:bodyPr>
          <a:lstStyle/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#include &lt;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stdio.h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&gt;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#include &lt;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string.h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&gt;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#include &lt;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stdlib.h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&gt;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endParaRPr lang="en-US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char hello[] = "Hello";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int main(int ac, char **av)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{   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char world[] = "world!";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</a:t>
            </a:r>
            <a:r>
              <a:rPr lang="en-US" b="1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char *str = malloc(64);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memcpy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(str, "beautiful", 64);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lang="en-US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printf</a:t>
            </a: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("%s %s %s\n", hello, str, world);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return 0;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100000"/>
              <a:buAutoNum type="arabicPeriod"/>
            </a:pPr>
            <a:r>
              <a:rPr lang="en-US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}</a:t>
            </a:r>
          </a:p>
          <a:p>
            <a:pPr marL="457200" lvl="0" indent="-457200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lvl="0" indent="-5715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4000" dirty="0"/>
              <a:t>Allocated on the heap</a:t>
            </a:r>
          </a:p>
          <a:p>
            <a:pPr marL="342900" lvl="1" indent="-342900" hangingPunct="0">
              <a:lnSpc>
                <a:spcPct val="120000"/>
              </a:lnSpc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4000" dirty="0"/>
              <a:t>Special area of memory provided by the OS from where malloc() can allocate memory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02F1-E3CC-B183-6055-FA9387DDCA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Dynamic variables (heap)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43F4-0186-38CA-C25B-C82731836C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Local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52C8B-9ABB-6901-322C-38931BACA1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 fontScale="925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#include &lt;</a:t>
            </a:r>
            <a:r>
              <a:rPr lang="en-US" sz="30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stdio.h</a:t>
            </a: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&gt;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endParaRPr lang="en-US" sz="3000" dirty="0">
              <a:solidFill>
                <a:srgbClr val="94476B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char hello[] = "Hello";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int main(int ac, char **av)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{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//static char world[] = "world!";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b="1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char world[] </a:t>
            </a: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= "world!";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lang="en-US" sz="3000" dirty="0" err="1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printf</a:t>
            </a: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("%s %s\n", hello, world);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return 0;</a:t>
            </a:r>
          </a:p>
          <a:p>
            <a:pPr lvl="0">
              <a:spcAft>
                <a:spcPts val="0"/>
              </a:spcAft>
              <a:buSzPct val="100000"/>
              <a:buAutoNum type="arabicPeriod"/>
            </a:pPr>
            <a:r>
              <a:rPr lang="en-US" sz="3000" dirty="0">
                <a:solidFill>
                  <a:srgbClr val="94476B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}</a:t>
            </a:r>
          </a:p>
          <a:p>
            <a:pPr lvl="0"/>
            <a:endParaRPr lang="en-US" dirty="0">
              <a:solidFill>
                <a:srgbClr val="000000"/>
              </a:solidFill>
              <a:latin typeface="Liberation Sans" pitchFamily="34"/>
            </a:endParaRP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None/>
            </a:pPr>
            <a:endParaRPr lang="en-US" sz="3200" dirty="0">
              <a:solidFill>
                <a:srgbClr val="000000"/>
              </a:solidFill>
              <a:latin typeface="Liberation Sans" pitchFamily="3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E2B9-9790-C5D3-7678-90F66CEA0E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2000" y="301320"/>
            <a:ext cx="9071640" cy="1262160"/>
          </a:xfrm>
        </p:spPr>
        <p:txBody>
          <a:bodyPr/>
          <a:lstStyle/>
          <a:p>
            <a:pPr lvl="0"/>
            <a:r>
              <a:rPr lang="en-US"/>
              <a:t>Local variables...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C73EE-C5AF-37D2-7862-77A71EF2BDE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4989240"/>
          </a:xfrm>
        </p:spPr>
        <p:txBody>
          <a:bodyPr>
            <a:normAutofit fontScale="70000" lnSpcReduction="20000"/>
          </a:bodyPr>
          <a:lstStyle/>
          <a:p>
            <a:pPr marL="457200" lvl="0" indent="-457200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Each function has private instances of local variables</a:t>
            </a:r>
          </a:p>
          <a:p>
            <a:pPr lvl="0">
              <a:spcAft>
                <a:spcPts val="0"/>
              </a:spcAft>
              <a:buSzPct val="45000"/>
              <a:buFont typeface="StarSymbol"/>
              <a:buChar char="●"/>
            </a:pPr>
            <a:endParaRPr lang="en-US" dirty="0"/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foo(int x) {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int a, b, c;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...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}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993366"/>
              </a:solidFill>
            </a:endParaRP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Function can be called recursively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993366"/>
              </a:solidFill>
            </a:endParaRP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foo(int x) {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int a, b, c;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a = x + 1;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if ( a &lt; 100 )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foo(a);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return;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DD89-AF4B-8AF6-4993-67EB27E110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2000" y="301320"/>
            <a:ext cx="9071640" cy="1262160"/>
          </a:xfrm>
        </p:spPr>
        <p:txBody>
          <a:bodyPr/>
          <a:lstStyle/>
          <a:p>
            <a:pPr lvl="0"/>
            <a:r>
              <a:rPr lang="en-US"/>
              <a:t>How to allocate local variables?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1347E-551E-27AC-1ECE-0014836E9F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4989240"/>
          </a:xfrm>
        </p:spPr>
        <p:txBody>
          <a:bodyPr/>
          <a:lstStyle/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foo(int x) {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int a, b, c;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...  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10BF-0187-A259-AB08-8DC1C143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F4ADE-D6BF-581D-C1C5-0CB6CCB147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2000" y="301320"/>
            <a:ext cx="9071640" cy="1262160"/>
          </a:xfrm>
        </p:spPr>
        <p:txBody>
          <a:bodyPr/>
          <a:lstStyle/>
          <a:p>
            <a:pPr lvl="0"/>
            <a:r>
              <a:rPr lang="en-US"/>
              <a:t>How to allocate local variables?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3C43F-6A26-D308-A278-7E991CB7850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4989240"/>
          </a:xfrm>
        </p:spPr>
        <p:txBody>
          <a:bodyPr/>
          <a:lstStyle/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foo(int x) {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int a, b, c;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...  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endParaRPr lang="en-US" sz="26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marL="457200" indent="-45720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 the stack!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endParaRPr lang="en-US" sz="26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4350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A414-BC84-F69A-6FBC-105AD4F2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E882-F8CE-B564-36F6-65BB94FE9DA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Q1: Where do we allocate global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DC98F-EDB7-421A-CC4E-B903F57574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lvl="0">
              <a:buSzPct val="100000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A6F3B-A719-1FA4-37AD-E8F673271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482" y="3324572"/>
            <a:ext cx="3257814" cy="3257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CAF5B4-03A7-7B2D-511F-30249D30A512}"/>
              </a:ext>
            </a:extLst>
          </p:cNvPr>
          <p:cNvSpPr txBox="1"/>
          <p:nvPr/>
        </p:nvSpPr>
        <p:spPr>
          <a:xfrm>
            <a:off x="5842257" y="6601895"/>
            <a:ext cx="3658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https://</a:t>
            </a:r>
            <a:r>
              <a:rPr lang="en-US" sz="2400" dirty="0" err="1">
                <a:solidFill>
                  <a:srgbClr val="0070C0"/>
                </a:solidFill>
              </a:rPr>
              <a:t>pollev.com</a:t>
            </a:r>
            <a:r>
              <a:rPr lang="en-US" sz="2400" dirty="0">
                <a:solidFill>
                  <a:srgbClr val="0070C0"/>
                </a:solidFill>
              </a:rPr>
              <a:t>/cs5460</a:t>
            </a:r>
          </a:p>
        </p:txBody>
      </p:sp>
    </p:spTree>
    <p:extLst>
      <p:ext uri="{BB962C8B-B14F-4D97-AF65-F5344CB8AC3E}">
        <p14:creationId xmlns:p14="http://schemas.microsoft.com/office/powerpoint/2010/main" val="190352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B4B0E-A388-5F43-0F00-D8BB225D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909E-3E01-DB26-5C4E-DC900F0E76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Poll Q2: Where do we allocate dynamic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B3F6F-7E66-1B5B-6CF6-EC64C6C7100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rmAutofit/>
          </a:bodyPr>
          <a:lstStyle/>
          <a:p>
            <a:pPr lvl="0">
              <a:buSzPct val="100000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B60E9-87FE-D848-9D8F-FEC51C4FB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482" y="3324572"/>
            <a:ext cx="3257814" cy="3257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776890-898B-F5A1-27E8-B77DDF9A9F62}"/>
              </a:ext>
            </a:extLst>
          </p:cNvPr>
          <p:cNvSpPr txBox="1"/>
          <p:nvPr/>
        </p:nvSpPr>
        <p:spPr>
          <a:xfrm>
            <a:off x="5842257" y="6601895"/>
            <a:ext cx="3658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https://</a:t>
            </a:r>
            <a:r>
              <a:rPr lang="en-US" sz="2400" dirty="0" err="1">
                <a:solidFill>
                  <a:srgbClr val="0070C0"/>
                </a:solidFill>
              </a:rPr>
              <a:t>pollev.com</a:t>
            </a:r>
            <a:r>
              <a:rPr lang="en-US" sz="2400" dirty="0">
                <a:solidFill>
                  <a:srgbClr val="0070C0"/>
                </a:solidFill>
              </a:rPr>
              <a:t>/cs5460</a:t>
            </a:r>
          </a:p>
        </p:txBody>
      </p:sp>
    </p:spTree>
    <p:extLst>
      <p:ext uri="{BB962C8B-B14F-4D97-AF65-F5344CB8AC3E}">
        <p14:creationId xmlns:p14="http://schemas.microsoft.com/office/powerpoint/2010/main" val="4285897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BAFF-548D-7746-1523-33BCE76ACD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2000" y="301320"/>
            <a:ext cx="9071640" cy="1262160"/>
          </a:xfrm>
        </p:spPr>
        <p:txBody>
          <a:bodyPr/>
          <a:lstStyle/>
          <a:p>
            <a:pPr lvl="0"/>
            <a:r>
              <a:rPr lang="en-US"/>
              <a:t>Allocating local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C3185-C9C8-6092-6FD6-26FC87E094B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769039"/>
            <a:ext cx="9310561" cy="5354571"/>
          </a:xfrm>
        </p:spPr>
        <p:txBody>
          <a:bodyPr>
            <a:normAutofit/>
          </a:bodyPr>
          <a:lstStyle/>
          <a:p>
            <a:pPr marL="457200" lvl="0" indent="-457200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Stored right after the saved </a:t>
            </a:r>
            <a:r>
              <a:rPr lang="en-US" dirty="0">
                <a:solidFill>
                  <a:srgbClr val="0070C0"/>
                </a:solidFill>
              </a:rPr>
              <a:t>RBP</a:t>
            </a:r>
            <a:r>
              <a:rPr lang="en-US" dirty="0"/>
              <a:t> value on the stack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Allocated by subtracting the number of bytes required from </a:t>
            </a:r>
            <a:r>
              <a:rPr lang="en-US" dirty="0">
                <a:solidFill>
                  <a:srgbClr val="0070C0"/>
                </a:solidFill>
              </a:rPr>
              <a:t>RSP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_</a:t>
            </a:r>
            <a:r>
              <a:rPr lang="en-US" sz="20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: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push </a:t>
            </a:r>
            <a:r>
              <a:rPr lang="en-US" sz="20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save original RBP value on stack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mov </a:t>
            </a:r>
            <a:r>
              <a:rPr lang="en-US" sz="20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0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new RBP = RSP</a:t>
            </a:r>
          </a:p>
          <a:p>
            <a:pPr lvl="0">
              <a:spcAft>
                <a:spcPts val="0"/>
              </a:spcAft>
            </a:pPr>
            <a:r>
              <a:rPr sz="20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sz="20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sub </a:t>
            </a:r>
            <a:r>
              <a:rPr sz="2000" dirty="0" err="1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sz="20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LOCAL_BYTES</a:t>
            </a:r>
            <a:r>
              <a:rPr sz="20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locals (round up to keep 16B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20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    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alignment)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…                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function body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mov </a:t>
            </a:r>
            <a:r>
              <a:rPr lang="en-US" sz="20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20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deallocate locals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pop </a:t>
            </a:r>
            <a:r>
              <a:rPr lang="en-US" sz="20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restore original RBP value</a:t>
            </a:r>
          </a:p>
          <a:p>
            <a:pPr lvl="0">
              <a:spcAft>
                <a:spcPts val="0"/>
              </a:spcAft>
            </a:pPr>
            <a:r>
              <a:rPr lang="en-US" sz="20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ret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B21A-48F1-6E1B-43D0-49AD780120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6C6D-5096-BCEE-5843-5F5384DB03F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71600"/>
            <a:ext cx="9449899" cy="5386680"/>
          </a:xfrm>
        </p:spPr>
        <p:txBody>
          <a:bodyPr>
            <a:normAutofit lnSpcReduction="10000"/>
          </a:bodyPr>
          <a:lstStyle/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void </a:t>
            </a:r>
            <a:r>
              <a:rPr lang="en-US" sz="1800" dirty="0" err="1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() {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int a, b, c;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…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</a:p>
          <a:p>
            <a:pPr lvl="0">
              <a:spcAft>
                <a:spcPts val="0"/>
              </a:spcAft>
            </a:pP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_</a:t>
            </a:r>
            <a:r>
              <a:rPr lang="en-US" sz="19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:</a:t>
            </a:r>
          </a:p>
          <a:p>
            <a:pPr lvl="0">
              <a:spcAft>
                <a:spcPts val="0"/>
              </a:spcAft>
            </a:pP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push </a:t>
            </a:r>
            <a:r>
              <a:rPr lang="en-US" sz="19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save the value of 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9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mov </a:t>
            </a:r>
            <a:r>
              <a:rPr lang="en-US" sz="19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19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= 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set 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to be top of the stack (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sz="19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</a:t>
            </a:r>
            <a:r>
              <a:rPr sz="19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sub </a:t>
            </a:r>
            <a:r>
              <a:rPr sz="1900" dirty="0" err="1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sz="19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16  </a:t>
            </a:r>
            <a:r>
              <a:rPr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move </a:t>
            </a:r>
            <a:r>
              <a:rPr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down to allocate space for the  </a:t>
            </a:r>
          </a:p>
          <a:p>
            <a:pPr lvl="0">
              <a:spcAft>
                <a:spcPts val="0"/>
              </a:spcAft>
            </a:pPr>
            <a:r>
              <a:rPr lang="en-US" sz="1900" dirty="0">
                <a:solidFill>
                  <a:srgbClr val="6666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local variables on the stack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666666"/>
              </a:solidFill>
              <a:latin typeface="LM Mono 10" pitchFamily="17"/>
            </a:endParaRPr>
          </a:p>
          <a:p>
            <a:pPr marL="457200" lvl="0" indent="-457200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With frames local variables can be accessed by de-referencing </a:t>
            </a:r>
            <a:r>
              <a:rPr lang="en-US" dirty="0">
                <a:solidFill>
                  <a:srgbClr val="0070C0"/>
                </a:solidFill>
              </a:rPr>
              <a:t>RBP</a:t>
            </a:r>
          </a:p>
          <a:p>
            <a:pPr lvl="0">
              <a:spcAft>
                <a:spcPts val="0"/>
              </a:spcAft>
              <a:buSzPct val="45000"/>
            </a:pPr>
            <a:r>
              <a:rPr lang="en-US" sz="2600" dirty="0">
                <a:solidFill>
                  <a:srgbClr val="990000"/>
                </a:solidFill>
                <a:latin typeface="LM Mono 10" pitchFamily="17"/>
              </a:rPr>
              <a:t>  </a:t>
            </a:r>
            <a:r>
              <a:rPr lang="en-US" sz="2600" dirty="0"/>
              <a:t>     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[</a:t>
            </a:r>
            <a:r>
              <a:rPr lang="en-US" sz="26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-  4], 10 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location of variable a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[</a:t>
            </a:r>
            <a:r>
              <a:rPr lang="en-US" sz="26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-  8], 5  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location of b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[</a:t>
            </a:r>
            <a:r>
              <a:rPr lang="en-US" sz="26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- 12], 2  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location of c     </a:t>
            </a:r>
          </a:p>
          <a:p>
            <a:pPr lvl="0">
              <a:spcAft>
                <a:spcPts val="0"/>
              </a:spcAft>
            </a:pPr>
            <a:endParaRPr lang="en-US" sz="26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5761B9B-F710-2E93-3450-454A58CF8085}"/>
              </a:ext>
            </a:extLst>
          </p:cNvPr>
          <p:cNvSpPr/>
          <p:nvPr/>
        </p:nvSpPr>
        <p:spPr>
          <a:xfrm>
            <a:off x="457200" y="1250066"/>
            <a:ext cx="2971800" cy="90282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31F84-D4BC-45B8-36C5-DD50DF652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D15B5-2436-C9C1-1073-BB196A1202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613FB-E986-0EF1-8FCB-5FEFCBB10B4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71600"/>
            <a:ext cx="9449899" cy="5386680"/>
          </a:xfrm>
        </p:spPr>
        <p:txBody>
          <a:bodyPr>
            <a:normAutofit lnSpcReduction="10000"/>
          </a:bodyPr>
          <a:lstStyle/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void </a:t>
            </a:r>
            <a:r>
              <a:rPr lang="en-US" sz="1800" dirty="0" err="1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() {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int a, b, c;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…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</a:t>
            </a:r>
          </a:p>
          <a:p>
            <a:pPr lvl="0">
              <a:spcAft>
                <a:spcPts val="0"/>
              </a:spcAft>
            </a:pP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_</a:t>
            </a:r>
            <a:r>
              <a:rPr lang="en-US" sz="19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:</a:t>
            </a:r>
          </a:p>
          <a:p>
            <a:pPr lvl="0">
              <a:spcAft>
                <a:spcPts val="0"/>
              </a:spcAft>
            </a:pP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push </a:t>
            </a:r>
            <a:r>
              <a:rPr lang="en-US" sz="19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save the value of 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9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mov </a:t>
            </a:r>
            <a:r>
              <a:rPr lang="en-US" sz="19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lang="en-US" sz="19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lang="en-US" sz="19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= 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set 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to be top of the stack (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sz="19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</a:t>
            </a:r>
            <a:r>
              <a:rPr sz="19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sub </a:t>
            </a:r>
            <a:r>
              <a:rPr sz="1900" dirty="0" err="1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sz="1900" dirty="0">
                <a:solidFill>
                  <a:srgbClr val="0070C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16  </a:t>
            </a:r>
            <a:r>
              <a:rPr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move </a:t>
            </a:r>
            <a:r>
              <a:rPr sz="19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down to allocate space for the  </a:t>
            </a:r>
          </a:p>
          <a:p>
            <a:pPr lvl="0">
              <a:spcAft>
                <a:spcPts val="0"/>
              </a:spcAft>
            </a:pPr>
            <a:r>
              <a:rPr lang="en-US" sz="1900" dirty="0">
                <a:solidFill>
                  <a:srgbClr val="6666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local variables on the stack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666666"/>
              </a:solidFill>
              <a:latin typeface="LM Mono 10" pitchFamily="17"/>
            </a:endParaRPr>
          </a:p>
          <a:p>
            <a:pPr marL="457200" lvl="0" indent="-457200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With frames local variables can be accessed by de-referencing </a:t>
            </a:r>
            <a:r>
              <a:rPr lang="en-US" dirty="0">
                <a:solidFill>
                  <a:srgbClr val="0070C0"/>
                </a:solidFill>
              </a:rPr>
              <a:t>RBP</a:t>
            </a:r>
          </a:p>
          <a:p>
            <a:pPr lvl="0">
              <a:spcAft>
                <a:spcPts val="0"/>
              </a:spcAft>
              <a:buSzPct val="45000"/>
            </a:pPr>
            <a:r>
              <a:rPr lang="en-US" sz="2600" dirty="0">
                <a:solidFill>
                  <a:srgbClr val="990000"/>
                </a:solidFill>
                <a:latin typeface="LM Mono 10" pitchFamily="17"/>
              </a:rPr>
              <a:t>  </a:t>
            </a:r>
            <a:r>
              <a:rPr lang="en-US" sz="2600" dirty="0"/>
              <a:t>     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[</a:t>
            </a:r>
            <a:r>
              <a:rPr lang="en-US" sz="26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-  4], 10 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location of variable a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[</a:t>
            </a:r>
            <a:r>
              <a:rPr lang="en-US" sz="26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-  8], 5  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location of b</a:t>
            </a:r>
          </a:p>
          <a:p>
            <a:pPr lvl="0">
              <a:spcAft>
                <a:spcPts val="0"/>
              </a:spcAft>
            </a:pP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[</a:t>
            </a:r>
            <a:r>
              <a:rPr lang="en-US" sz="2600" dirty="0" err="1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lang="en-US" sz="26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- 12], 2  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location of c     </a:t>
            </a:r>
          </a:p>
          <a:p>
            <a:pPr lvl="0">
              <a:spcAft>
                <a:spcPts val="0"/>
              </a:spcAft>
            </a:pPr>
            <a:endParaRPr lang="en-US" sz="2600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F8C0E3C-3314-5918-004D-31FABDC54F15}"/>
              </a:ext>
            </a:extLst>
          </p:cNvPr>
          <p:cNvSpPr/>
          <p:nvPr/>
        </p:nvSpPr>
        <p:spPr>
          <a:xfrm>
            <a:off x="240175" y="5045075"/>
            <a:ext cx="9335464" cy="140202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388993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51E3-7750-9790-FD69-8FEDCA4137E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How to pass arguments?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27CEC-0E18-45E7-7493-6673C37C0B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Possible options: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In registers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On the stack</a:t>
            </a: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</a:pPr>
            <a:endParaRPr lang="en-US" sz="3200" dirty="0">
              <a:latin typeface="Liberation Sans" pitchFamily="18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B78D-C3DA-9771-F11D-FB4FD9EEC6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How to pass arguments?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B604B-7135-BB26-6A93-4499F495787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39"/>
            <a:ext cx="9071640" cy="5489315"/>
          </a:xfrm>
        </p:spPr>
        <p:txBody>
          <a:bodyPr>
            <a:normAutofit fontScale="925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dirty="0"/>
              <a:t>Linux x86-64 user-space uses the System V AMD64 ABI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Integer/pointer </a:t>
            </a:r>
            <a:r>
              <a:rPr sz="2600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 #1–#6: RDI, RSI, RDX, RCX, R8, R9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Floating-point </a:t>
            </a:r>
            <a:r>
              <a:rPr sz="2600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 #1–#8: XMM0–XMM7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dirty="0"/>
              <a:t>Remaining </a:t>
            </a:r>
            <a:r>
              <a:rPr dirty="0" err="1"/>
              <a:t>args</a:t>
            </a:r>
            <a:r>
              <a:rPr dirty="0"/>
              <a:t>: on the stack (8-byte slots)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Return values: RAX (and RDX if needed); FP return: XMM0</a:t>
            </a:r>
          </a:p>
          <a:p>
            <a:pPr marL="914400" lvl="3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Stack alignment: RSP must be 16-byte aligned before call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Red zone: 128 bytes below RSP may be used by leaf functions (user-space)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Note: Linux </a:t>
            </a:r>
            <a:r>
              <a:rPr sz="2600" dirty="0" err="1">
                <a:latin typeface="Arial" panose="020B0604020202020204" pitchFamily="34" charset="0"/>
                <a:cs typeface="Arial" panose="020B0604020202020204" pitchFamily="34" charset="0"/>
              </a:rPr>
              <a:t>syscalls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 use a different convention (RAX=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syscall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number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600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 RDI/RSI/RDX/R10/R8/R9)</a:t>
            </a:r>
          </a:p>
          <a:p>
            <a:pPr marL="0" lvl="1" indent="0" hangingPunct="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</a:pPr>
            <a:endParaRPr lang="en-US" sz="3200" dirty="0">
              <a:latin typeface="Liberation Sans" pitchFamily="1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12DCF-C17E-AE3F-EA3F-389C4C036B2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t>x86-64 (System V): passing arguments in registers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A2D92-1A60-DAE9-8C56-DB437F17D6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589040"/>
            <a:ext cx="9071640" cy="4989240"/>
          </a:xfrm>
        </p:spPr>
        <p:txBody>
          <a:bodyPr>
            <a:normAutofit fontScale="85000" lnSpcReduction="20000"/>
          </a:bodyPr>
          <a:lstStyle/>
          <a:p>
            <a:pPr marL="457200" lvl="0" indent="-457200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iberation Sans" pitchFamily="34"/>
              </a:rPr>
              <a:t>Example function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SzPct val="45000"/>
              <a:buFont typeface="StarSymbol"/>
              <a:buChar char="●"/>
            </a:pPr>
            <a:endParaRPr lang="en-US" dirty="0">
              <a:solidFill>
                <a:srgbClr val="000000"/>
              </a:solidFill>
              <a:latin typeface="Liberation Sans" pitchFamily="34"/>
            </a:endParaRP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void </a:t>
            </a:r>
            <a:r>
              <a:rPr sz="2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(long x, long y, long z)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lang="en-US"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  …  }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990000"/>
              </a:solidFill>
              <a:latin typeface="LM Mono 10" pitchFamily="17"/>
            </a:endParaRPr>
          </a:p>
          <a:p>
            <a:pPr marL="457200" lvl="0" indent="-457200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iberation Sans" pitchFamily="34"/>
              </a:rPr>
              <a:t>Example invocation</a:t>
            </a:r>
          </a:p>
          <a:p>
            <a:pPr lvl="0">
              <a:spcAft>
                <a:spcPts val="0"/>
              </a:spcAft>
              <a:buSzPct val="45000"/>
            </a:pPr>
            <a:endParaRPr lang="en-US" dirty="0">
              <a:solidFill>
                <a:srgbClr val="000000"/>
              </a:solidFill>
              <a:latin typeface="Liberation Sans" pitchFamily="34"/>
            </a:endParaRPr>
          </a:p>
          <a:p>
            <a:pPr lvl="0">
              <a:spcAft>
                <a:spcPts val="0"/>
              </a:spcAft>
            </a:pPr>
            <a:r>
              <a:rPr lang="en-US" sz="2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lang="en-US"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(2, 5, 10);</a:t>
            </a:r>
          </a:p>
          <a:p>
            <a:pPr lvl="0">
              <a:spcAft>
                <a:spcPts val="0"/>
              </a:spcAft>
            </a:pPr>
            <a:endParaRPr lang="en-US" sz="2600" dirty="0">
              <a:solidFill>
                <a:srgbClr val="990000"/>
              </a:solidFill>
              <a:latin typeface="LM Mono 10" pitchFamily="17"/>
            </a:endParaRPr>
          </a:p>
          <a:p>
            <a:pPr marL="457200" lvl="0" indent="-457200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dirty="0"/>
              <a:t>Generated code 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sz="2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rdi</a:t>
            </a:r>
            <a:r>
              <a:rPr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sz="2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5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mov </a:t>
            </a:r>
            <a:r>
              <a:rPr sz="2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rdx</a:t>
            </a:r>
            <a:r>
              <a:rPr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10</a:t>
            </a:r>
          </a:p>
          <a:p>
            <a:pPr lvl="0">
              <a:lnSpc>
                <a:spcPct val="120000"/>
              </a:lnSpc>
              <a:spcAft>
                <a:spcPts val="0"/>
              </a:spcAft>
            </a:pPr>
            <a:r>
              <a:rPr sz="2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call </a:t>
            </a:r>
            <a:r>
              <a:rPr sz="2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endParaRPr lang="en-US" sz="2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51888-CC62-8AF8-1176-1B774BB20C2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Example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19901-E8A5-E564-F1E7-EF427E8661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230310" cy="5279942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:    :</a:t>
            </a:r>
          </a:p>
          <a:p>
            <a:pPr lvl="0">
              <a:spcAft>
                <a:spcPts val="0"/>
              </a:spcAft>
            </a:pP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| arg8 | [RBP + 24] (8th argument, stack-passed)</a:t>
            </a:r>
          </a:p>
          <a:p>
            <a:pPr lvl="0">
              <a:spcAft>
                <a:spcPts val="0"/>
              </a:spcAft>
            </a:pP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| arg7 | [RBP + 16] (7th argument, stack-passed)</a:t>
            </a:r>
          </a:p>
          <a:p>
            <a:pPr lvl="0">
              <a:spcAft>
                <a:spcPts val="0"/>
              </a:spcAft>
            </a:pP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| RA   | [RBP + 8]  (return address)</a:t>
            </a:r>
          </a:p>
          <a:p>
            <a:pPr lvl="0">
              <a:spcAft>
                <a:spcPts val="0"/>
              </a:spcAft>
            </a:pP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| FP   | [RBP]      (old RBP value)</a:t>
            </a:r>
            <a:r>
              <a:rPr lang="en-US"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← RBP points here</a:t>
            </a:r>
          </a:p>
          <a:p>
            <a:pPr lvl="0">
              <a:spcAft>
                <a:spcPts val="0"/>
              </a:spcAft>
            </a:pP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| ...  | [RBP - 8]  (1st local variable)</a:t>
            </a:r>
          </a:p>
          <a:p>
            <a:pPr lvl="0">
              <a:spcAft>
                <a:spcPts val="0"/>
              </a:spcAft>
            </a:pP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:    :</a:t>
            </a:r>
          </a:p>
          <a:p>
            <a:pPr lvl="0">
              <a:spcAft>
                <a:spcPts val="0"/>
              </a:spcAft>
            </a:pP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:    :</a:t>
            </a:r>
          </a:p>
          <a:p>
            <a:pPr lvl="0">
              <a:spcAft>
                <a:spcPts val="0"/>
              </a:spcAft>
            </a:pP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| ...  | [RBP - X]  (RSP - the current stack pointer)</a:t>
            </a:r>
          </a:p>
          <a:p>
            <a:pPr lvl="0">
              <a:spcAft>
                <a:spcPts val="0"/>
              </a:spcAft>
            </a:pPr>
            <a:endParaRPr lang="en-US" sz="2200" dirty="0"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  </a:t>
            </a:r>
            <a:r>
              <a:rPr sz="22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args</a:t>
            </a: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1–6 are in registers: </a:t>
            </a:r>
            <a:endParaRPr lang="en-US" sz="2200" dirty="0"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      </a:t>
            </a:r>
            <a:r>
              <a:rPr sz="22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RDI, RSI, RDX, RCX, R8, R9</a:t>
            </a:r>
          </a:p>
          <a:p>
            <a:pPr lvl="0">
              <a:spcAft>
                <a:spcPts val="0"/>
              </a:spcAft>
            </a:pPr>
            <a:endParaRPr lang="en-US" sz="2200" dirty="0"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692EE-E5D1-9320-B9D6-989EAD6F06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Example: caller side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5DFAF-24B9-F40E-AEC5-12AD2122664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1258" y="2286000"/>
            <a:ext cx="4267200" cy="386748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callee(long,</a:t>
            </a: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long, long);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caller(void)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long ret;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= callee(1, 2, 3);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+= 5;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 ret;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spcAft>
                <a:spcPts val="0"/>
              </a:spcAft>
            </a:pPr>
            <a:endParaRPr lang="en-US" sz="20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E92E5-10B4-091B-1837-D696C28C734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28458" y="685800"/>
            <a:ext cx="5357599" cy="617220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caller: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manage own stack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push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set call arguments (registers)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3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6666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call subroutine 'callee'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call    callee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no stack cleanup needed 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</a:t>
            </a:r>
            <a:r>
              <a:rPr sz="18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args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 regs)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stack is 16B-aligned before call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use subroutine result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add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5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restore old call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pop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return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ret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F2627BD-A13C-F204-6709-8BCDC46B8AD3}"/>
              </a:ext>
            </a:extLst>
          </p:cNvPr>
          <p:cNvSpPr/>
          <p:nvPr/>
        </p:nvSpPr>
        <p:spPr>
          <a:xfrm>
            <a:off x="4432663" y="548640"/>
            <a:ext cx="5357599" cy="155883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F1DC2192-1143-E583-B103-537FDA2915B4}"/>
              </a:ext>
            </a:extLst>
          </p:cNvPr>
          <p:cNvSpPr/>
          <p:nvPr/>
        </p:nvSpPr>
        <p:spPr>
          <a:xfrm>
            <a:off x="194567" y="2749044"/>
            <a:ext cx="2548633" cy="439836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C1D69-4C07-2155-8EFB-7BF52EF9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9D265-26A2-C87A-CED9-BC536157A1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Example: caller side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14394-FE85-C41E-7E29-CAF0F7120C9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1258" y="2286000"/>
            <a:ext cx="4267200" cy="386748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callee(long,</a:t>
            </a: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long, long);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caller(void)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long ret;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= callee(1, 2, 3);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+= 5;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 ret;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spcAft>
                <a:spcPts val="0"/>
              </a:spcAft>
            </a:pPr>
            <a:endParaRPr lang="en-US" sz="20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5C1EF-C961-C36C-64C4-A534E97AA8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28458" y="685800"/>
            <a:ext cx="5357599" cy="617220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caller: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manage own stack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push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set call arguments (registers)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3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6666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call subroutine 'callee'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call    callee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no stack cleanup needed 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</a:t>
            </a:r>
            <a:r>
              <a:rPr sz="18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args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 regs)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stack is 16B-aligned before call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use subroutine result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add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5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restore old call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pop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return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ret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3A1505F-FC4F-0671-81CE-A882E97F91AE}"/>
              </a:ext>
            </a:extLst>
          </p:cNvPr>
          <p:cNvSpPr/>
          <p:nvPr/>
        </p:nvSpPr>
        <p:spPr>
          <a:xfrm>
            <a:off x="4432663" y="1820093"/>
            <a:ext cx="5357599" cy="163721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9C70154-3120-2EF6-DEDF-EB36856EA3D3}"/>
              </a:ext>
            </a:extLst>
          </p:cNvPr>
          <p:cNvSpPr/>
          <p:nvPr/>
        </p:nvSpPr>
        <p:spPr>
          <a:xfrm>
            <a:off x="194568" y="3881159"/>
            <a:ext cx="3698163" cy="439836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53995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6ED1-EF62-4884-F739-072B73E5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7DBC-C50E-61D6-7D8E-3736A32EF6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Example: caller side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50DC8-C878-EE8C-3823-A152D4713F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1258" y="2286000"/>
            <a:ext cx="4267200" cy="386748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callee(long,</a:t>
            </a: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long, long);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caller(void)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long ret;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= callee(1, 2, 3);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+= 5;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 ret;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spcAft>
                <a:spcPts val="0"/>
              </a:spcAft>
            </a:pPr>
            <a:endParaRPr lang="en-US" sz="20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2C457-BF69-D395-C216-78E5DAA817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28458" y="685800"/>
            <a:ext cx="5357599" cy="617220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caller: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manage own stack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push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set call arguments (registers)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3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6666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call subroutine 'callee'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call    callee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no stack cleanup needed 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</a:t>
            </a:r>
            <a:r>
              <a:rPr sz="18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args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 regs)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stack is 16B-aligned before call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use subroutine result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add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5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restore old call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pop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return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ret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3634619-FDBA-294B-D85A-358412E23939}"/>
              </a:ext>
            </a:extLst>
          </p:cNvPr>
          <p:cNvSpPr/>
          <p:nvPr/>
        </p:nvSpPr>
        <p:spPr>
          <a:xfrm>
            <a:off x="4343398" y="3440323"/>
            <a:ext cx="5357599" cy="5656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72CF91A-8530-B3C9-78FC-89D7BA244C75}"/>
              </a:ext>
            </a:extLst>
          </p:cNvPr>
          <p:cNvSpPr/>
          <p:nvPr/>
        </p:nvSpPr>
        <p:spPr>
          <a:xfrm>
            <a:off x="261258" y="3863741"/>
            <a:ext cx="3622765" cy="439836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3808746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555B7-0D94-A1FB-10C9-D41A5514E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8024-6084-CC03-CE58-70903D27943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Example: caller side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3A242-4647-DB4B-4144-A27D54ED84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1258" y="2286000"/>
            <a:ext cx="4267200" cy="386748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callee(long,</a:t>
            </a: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long, long);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caller(void)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long ret;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= callee(1, 2, 3);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+= 5;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 ret;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spcAft>
                <a:spcPts val="0"/>
              </a:spcAft>
            </a:pPr>
            <a:endParaRPr lang="en-US" sz="20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24C4C-577F-FC4F-8805-E26DEDF02BF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28458" y="685800"/>
            <a:ext cx="5357599" cy="617220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caller: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manage own stack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push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set call arguments (registers)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3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6666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call subroutine 'callee'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call    callee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no stack cleanup needed 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</a:t>
            </a:r>
            <a:r>
              <a:rPr sz="18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args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 regs)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stack is 16B-aligned before call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use subroutine result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add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5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restore old call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pop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return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ret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A9B6806-E9CF-1E45-9710-922022CCB43C}"/>
              </a:ext>
            </a:extLst>
          </p:cNvPr>
          <p:cNvSpPr/>
          <p:nvPr/>
        </p:nvSpPr>
        <p:spPr>
          <a:xfrm>
            <a:off x="194568" y="3332064"/>
            <a:ext cx="2548633" cy="439836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696142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BC427-5CDF-B4CA-8578-F5A19C45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F8A70-95E5-013A-64E0-8F3CFDC5E0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Example: caller side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25202-1C35-1F91-8419-2331206F53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1258" y="2286000"/>
            <a:ext cx="4267200" cy="386748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callee(long,</a:t>
            </a: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long, long);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caller(void)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long ret;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= callee(1, 2, 3);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+= 5;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 ret;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spcAft>
                <a:spcPts val="0"/>
              </a:spcAft>
            </a:pPr>
            <a:endParaRPr lang="en-US" sz="20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1273-50E5-78A2-3BCC-F1671ADF507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28458" y="685800"/>
            <a:ext cx="5357599" cy="617220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caller: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manage own stack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push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set call arguments (registers)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3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6666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call subroutine 'callee'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call    callee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no stack cleanup needed 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</a:t>
            </a:r>
            <a:r>
              <a:rPr sz="18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args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 regs)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stack is 16B-aligned before call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use subroutine result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add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5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restore old call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pop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return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ret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5051F2D-182B-5C7C-BF44-537FB3708418}"/>
              </a:ext>
            </a:extLst>
          </p:cNvPr>
          <p:cNvSpPr/>
          <p:nvPr/>
        </p:nvSpPr>
        <p:spPr>
          <a:xfrm>
            <a:off x="4632960" y="4284617"/>
            <a:ext cx="5186407" cy="53993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9B33767-F79A-3E22-6EB6-C4DE72197533}"/>
              </a:ext>
            </a:extLst>
          </p:cNvPr>
          <p:cNvSpPr/>
          <p:nvPr/>
        </p:nvSpPr>
        <p:spPr>
          <a:xfrm>
            <a:off x="261258" y="4180113"/>
            <a:ext cx="2481943" cy="36730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547290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28CF-9FFF-C034-8872-58E4AB5D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B7E9-5317-9842-D215-3A760954FC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01320"/>
            <a:ext cx="3839399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Example: caller side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47E21-2B48-8A54-58FA-3888E482106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1258" y="2286000"/>
            <a:ext cx="4267200" cy="386748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callee(long,</a:t>
            </a: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long, long);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long caller(void)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long ret;</a:t>
            </a:r>
          </a:p>
          <a:p>
            <a:pPr lvl="0">
              <a:spcAft>
                <a:spcPts val="0"/>
              </a:spcAft>
            </a:pP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= callee(1, 2, 3);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 += 5;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 ret;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  <a:p>
            <a:pPr lvl="0">
              <a:spcAft>
                <a:spcPts val="0"/>
              </a:spcAft>
            </a:pPr>
            <a:endParaRPr lang="en-US" sz="20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82B4B-B4E4-31FE-9131-A84B7A811A9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28458" y="685800"/>
            <a:ext cx="5357599" cy="617220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caller: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manage own stack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push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set call arguments (registers)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1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rsi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2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rdx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3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6666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call subroutine 'callee'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6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call    callee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no stack cleanup needed 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</a:t>
            </a:r>
            <a:r>
              <a:rPr sz="1800" dirty="0" err="1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args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in regs)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stack is 16B-aligned before call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use subroutine result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add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rax</a:t>
            </a: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5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restore old call frame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pop     </a:t>
            </a:r>
            <a:r>
              <a:rPr sz="1800" dirty="0" err="1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; return</a:t>
            </a:r>
          </a:p>
          <a:p>
            <a:pPr lvl="0">
              <a:spcAft>
                <a:spcPts val="0"/>
              </a:spcAft>
            </a:pPr>
            <a:r>
              <a:rPr sz="1800" dirty="0"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ret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6BB0BFC-4D91-2B3B-8E24-BE1835B855E2}"/>
              </a:ext>
            </a:extLst>
          </p:cNvPr>
          <p:cNvSpPr/>
          <p:nvPr/>
        </p:nvSpPr>
        <p:spPr>
          <a:xfrm>
            <a:off x="4632960" y="4815839"/>
            <a:ext cx="5186407" cy="114953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12F7EC0-5D55-A1F4-00F4-EDC31AFC0AAF}"/>
              </a:ext>
            </a:extLst>
          </p:cNvPr>
          <p:cNvSpPr/>
          <p:nvPr/>
        </p:nvSpPr>
        <p:spPr>
          <a:xfrm>
            <a:off x="261258" y="4448536"/>
            <a:ext cx="2481943" cy="36730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5935354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709BC-B449-1486-3AA5-22BB923BED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31400" y="374040"/>
            <a:ext cx="4296600" cy="1262160"/>
          </a:xfrm>
        </p:spPr>
        <p:txBody>
          <a:bodyPr>
            <a:spAutoFit/>
          </a:bodyPr>
          <a:lstStyle/>
          <a:p>
            <a:pPr lvl="0"/>
            <a:r>
              <a:rPr lang="en-US"/>
              <a:t>Example: callee side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A76C7-9730-A980-9897-3B836289549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90199" y="457200"/>
            <a:ext cx="5559025" cy="1788289"/>
          </a:xfrm>
          <a:solidFill>
            <a:srgbClr val="EEEEEE"/>
          </a:solidFill>
        </p:spPr>
        <p:txBody>
          <a:bodyPr>
            <a:noAutofit/>
          </a:bodyPr>
          <a:lstStyle/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void </a:t>
            </a:r>
            <a:r>
              <a:rPr sz="1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(long x, long y, long z)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long a, b, c;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…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69082-3944-AC72-AD5F-77511D73B7B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436472"/>
            <a:ext cx="8893800" cy="4800600"/>
          </a:xfrm>
        </p:spPr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sz="1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my_function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: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push </a:t>
            </a:r>
            <a:r>
              <a:rPr sz="1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</a:t>
            </a:r>
            <a:r>
              <a:rPr sz="1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sz="1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sub </a:t>
            </a:r>
            <a:r>
              <a:rPr sz="1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32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; allocate locals + padding (keep 16B alignment)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; x in RDI, y in RSI, z in RDX   (System V AMD64)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          ; a=[rbp-8], b=[rbp-16], c=[rbp-24]</a:t>
            </a:r>
          </a:p>
          <a:p>
            <a:pPr lvl="0">
              <a:spcAft>
                <a:spcPts val="0"/>
              </a:spcAft>
            </a:pPr>
            <a:endParaRPr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endParaRPr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mov </a:t>
            </a:r>
            <a:r>
              <a:rPr sz="1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rsp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, </a:t>
            </a:r>
            <a:r>
              <a:rPr sz="1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; deallocate local variables</a:t>
            </a: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pop </a:t>
            </a:r>
            <a:r>
              <a:rPr sz="18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rbp</a:t>
            </a:r>
            <a:endParaRPr lang="en-US" sz="18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rPr sz="18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ret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B2DF-D9C3-5B7D-D02D-50B0B21F0E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31400" y="374040"/>
            <a:ext cx="4296600" cy="1262160"/>
          </a:xfrm>
        </p:spPr>
        <p:txBody>
          <a:bodyPr>
            <a:spAutoFit/>
          </a:bodyPr>
          <a:lstStyle/>
          <a:p>
            <a:pPr lvl="0"/>
            <a:r>
              <a:rPr lang="en-US">
                <a:latin typeface="LM Mono 10" pitchFamily="17"/>
              </a:rPr>
              <a:t>leave</a:t>
            </a:r>
            <a:r>
              <a:rPr lang="en-US"/>
              <a:t> instruction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4B3BB-EE01-13F6-53FD-86BBEC5F403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90200" y="457200"/>
            <a:ext cx="5439600" cy="1707266"/>
          </a:xfrm>
          <a:solidFill>
            <a:srgbClr val="EEEEEE"/>
          </a:solidFill>
        </p:spPr>
        <p:txBody>
          <a:bodyPr>
            <a:normAutofit fontScale="77500" lnSpcReduction="20000"/>
          </a:bodyPr>
          <a:lstStyle/>
          <a:p>
            <a:pPr lvl="0">
              <a:spcAft>
                <a:spcPts val="0"/>
              </a:spcAft>
            </a:pPr>
            <a:r>
              <a:t>void my_function(long x, long y, long z)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{</a:t>
            </a:r>
          </a:p>
          <a:p>
            <a:pPr lvl="0">
              <a:spcAft>
                <a:spcPts val="0"/>
              </a:spcAft>
            </a:pPr>
            <a:r>
              <a:t>    long a, b, c;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…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   return;</a:t>
            </a:r>
          </a:p>
          <a:p>
            <a:pPr lvl="0">
              <a:spcAft>
                <a:spcPts val="0"/>
              </a:spcAft>
            </a:pPr>
            <a:r>
              <a:rPr lang="en-US" sz="1800" dirty="0">
                <a:solidFill>
                  <a:srgbClr val="990000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F0D1E-0D8A-42D3-9465-6F7DE8F7B3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286000"/>
            <a:ext cx="8893800" cy="4800600"/>
          </a:xfrm>
        </p:spPr>
        <p:txBody>
          <a:bodyPr>
            <a:normAutofit fontScale="92500" lnSpcReduction="20000"/>
          </a:bodyPr>
          <a:lstStyle/>
          <a:p>
            <a:pPr lvl="0">
              <a:spcAft>
                <a:spcPts val="0"/>
              </a:spcAft>
            </a:pPr>
            <a:r>
              <a:t>my_function:</a:t>
            </a:r>
          </a:p>
          <a:p>
            <a:pPr lvl="0">
              <a:spcAft>
                <a:spcPts val="0"/>
              </a:spcAft>
            </a:pPr>
            <a:r>
              <a:t>  push rbp</a:t>
            </a:r>
            <a:endParaRPr lang="en-US" sz="22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t>  mov rbp, rsp</a:t>
            </a:r>
            <a:endParaRPr lang="en-US" sz="2200" dirty="0">
              <a:solidFill>
                <a:srgbClr val="6666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t>  sub rsp, 32 ; allocate locals + padding (keep 16B alignment)</a:t>
            </a:r>
            <a:endParaRPr lang="en-US" sz="2200" dirty="0">
              <a:solidFill>
                <a:srgbClr val="6666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t>              ; x in RDI, y in RSI, z in RDX   (System V AMD64)</a:t>
            </a:r>
          </a:p>
          <a:p>
            <a:pPr lvl="0">
              <a:spcAft>
                <a:spcPts val="0"/>
              </a:spcAft>
            </a:pPr>
            <a:r>
              <a:t>              ; a=[rbp-8], b=[rbp-16], c=[rbp-24]</a:t>
            </a:r>
          </a:p>
          <a:p>
            <a:pPr lvl="0">
              <a:spcAft>
                <a:spcPts val="0"/>
              </a:spcAft>
            </a:pPr>
            <a:endParaRPr/>
          </a:p>
          <a:p>
            <a:pPr lvl="0">
              <a:spcAft>
                <a:spcPts val="0"/>
              </a:spcAft>
            </a:pPr>
            <a:endParaRPr/>
          </a:p>
          <a:p>
            <a:pPr lvl="0">
              <a:spcAft>
                <a:spcPts val="0"/>
              </a:spcAft>
            </a:pPr>
            <a:r>
              <a:t>  leave</a:t>
            </a:r>
            <a:endParaRPr lang="en-US" sz="22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r>
              <a:t>  ret</a:t>
            </a:r>
            <a:endParaRPr lang="en-US" sz="22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  <a:p>
            <a:pPr lvl="0">
              <a:spcAft>
                <a:spcPts val="0"/>
              </a:spcAft>
            </a:pPr>
            <a:endParaRPr lang="en-US" sz="2200" dirty="0">
              <a:solidFill>
                <a:srgbClr val="993366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414A988A-1378-4FAA-41BF-CBC58D4F63E7}"/>
              </a:ext>
            </a:extLst>
          </p:cNvPr>
          <p:cNvSpPr/>
          <p:nvPr/>
        </p:nvSpPr>
        <p:spPr>
          <a:xfrm>
            <a:off x="891251" y="4962645"/>
            <a:ext cx="2286000" cy="111406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4829E2-19B2-61C7-77EE-1499D1A27D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0" y="5943600"/>
            <a:ext cx="5029200" cy="1371600"/>
          </a:xfrm>
        </p:spPr>
        <p:txBody>
          <a:bodyPr>
            <a:normAutofit fontScale="850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t>x86/x86-64 has a special instruction for this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t>leave  ; equivalent to mov rsp, rbp; pop rbp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CD00-7E6A-6356-46CD-18C8221028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Back to stack frames, so why do we need them?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BC214-DE59-E581-CD6A-931F55B42E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… They are not strictly required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GCC compiler option  </a:t>
            </a:r>
            <a:r>
              <a:rPr lang="en-US" sz="2600" dirty="0">
                <a:solidFill>
                  <a:srgbClr val="993366"/>
                </a:solidFill>
                <a:latin typeface="LM Mono 10" pitchFamily="17"/>
              </a:rPr>
              <a:t>-</a:t>
            </a:r>
            <a:r>
              <a:rPr lang="en-US" sz="2600" dirty="0" err="1">
                <a:solidFill>
                  <a:schemeClr val="accent4"/>
                </a:solidFill>
                <a:latin typeface="LM Mono 10" pitchFamily="17"/>
              </a:rPr>
              <a:t>fomit</a:t>
            </a:r>
            <a:r>
              <a:rPr lang="en-US" sz="2600" dirty="0">
                <a:solidFill>
                  <a:schemeClr val="accent4"/>
                </a:solidFill>
                <a:latin typeface="LM Mono 10" pitchFamily="17"/>
              </a:rPr>
              <a:t>-frame-pointer</a:t>
            </a:r>
            <a:r>
              <a:rPr lang="en-US" sz="2600" dirty="0">
                <a:solidFill>
                  <a:srgbClr val="993366"/>
                </a:solidFill>
                <a:latin typeface="LM Mono 10" pitchFamily="17"/>
              </a:rPr>
              <a:t> </a:t>
            </a:r>
            <a:r>
              <a:rPr lang="en-US" dirty="0"/>
              <a:t>can disable them</a:t>
            </a:r>
          </a:p>
          <a:p>
            <a:pPr lvl="0"/>
            <a:r>
              <a:rPr lang="en-US" sz="2600" dirty="0">
                <a:solidFill>
                  <a:schemeClr val="accent4"/>
                </a:solidFill>
                <a:latin typeface="LM Mono 10" pitchFamily="17"/>
              </a:rPr>
              <a:t>Don't keep the frame pointer in a register for functions that don't need one. This avoids the instructions to save, set up and restore frame pointers; it also makes an extra register available in many functions. </a:t>
            </a:r>
            <a:r>
              <a:rPr lang="en-US" sz="2600" b="1" dirty="0">
                <a:solidFill>
                  <a:schemeClr val="accent4"/>
                </a:solidFill>
                <a:latin typeface="LM Mono 10" pitchFamily="17"/>
              </a:rPr>
              <a:t>It also makes debugging impossible on some machines.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19AD-4AA9-5572-3A64-7B18ACC994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Referencing args without frames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AF1B5-631B-F422-CD06-4F69E20B49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633640" y="1769040"/>
            <a:ext cx="3942000" cy="4989240"/>
          </a:xfrm>
        </p:spPr>
        <p:txBody>
          <a:bodyPr>
            <a:normAutofit fontScale="85000" lnSpcReduction="20000"/>
          </a:bodyPr>
          <a:lstStyle/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dirty="0"/>
              <a:t>In x86-64 </a:t>
            </a:r>
            <a:r>
              <a:rPr dirty="0" err="1"/>
              <a:t>SysV</a:t>
            </a:r>
            <a:r>
              <a:rPr dirty="0"/>
              <a:t>, most arguments arrive in registers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dirty="0"/>
              <a:t>Stack-passed </a:t>
            </a:r>
            <a:r>
              <a:rPr dirty="0" err="1"/>
              <a:t>args</a:t>
            </a:r>
            <a:r>
              <a:rPr dirty="0"/>
              <a:t> (arg7+) start at [</a:t>
            </a:r>
            <a:r>
              <a:rPr dirty="0">
                <a:solidFill>
                  <a:srgbClr val="0070C0"/>
                </a:solidFill>
              </a:rPr>
              <a:t>RSP + 8</a:t>
            </a:r>
            <a:r>
              <a:rPr dirty="0"/>
              <a:t>] on entry (above return address)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dirty="0"/>
              <a:t>As you push/pop or allocate locals, </a:t>
            </a:r>
            <a:r>
              <a:rPr dirty="0">
                <a:solidFill>
                  <a:srgbClr val="0070C0"/>
                </a:solidFill>
              </a:rPr>
              <a:t>RSP changes</a:t>
            </a:r>
            <a:r>
              <a:rPr dirty="0"/>
              <a:t> → offsets change too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25BC8-3D69-558B-6844-C97725DEB73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1674720"/>
            <a:ext cx="5176440" cy="232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09CAD0-668B-E6D6-5800-33EA6006B7A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2040" y="4147920"/>
            <a:ext cx="4499280" cy="20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B2426114-2EB8-6155-6A31-7EED7DE53D85}"/>
              </a:ext>
            </a:extLst>
          </p:cNvPr>
          <p:cNvSpPr/>
          <p:nvPr/>
        </p:nvSpPr>
        <p:spPr>
          <a:xfrm>
            <a:off x="685800" y="2514600"/>
            <a:ext cx="45720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1EBC6F-A10F-531A-6E47-6ECBE14A81C0}"/>
              </a:ext>
            </a:extLst>
          </p:cNvPr>
          <p:cNvSpPr/>
          <p:nvPr/>
        </p:nvSpPr>
        <p:spPr>
          <a:xfrm>
            <a:off x="685800" y="4741200"/>
            <a:ext cx="45720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720">
            <a:solidFill>
              <a:srgbClr val="FF3333"/>
            </a:solidFill>
            <a:prstDash val="solid"/>
          </a:ln>
        </p:spPr>
        <p:txBody>
          <a:bodyPr wrap="none" lIns="108000" tIns="62999" rIns="108000" bIns="62999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Liberation Sans" pitchFamily="18"/>
              <a:ea typeface="WenQuanYi Micro Hei" pitchFamily="2"/>
              <a:cs typeface="Lohit Hindi" pitchFamily="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5838-CA87-B8B7-D84C-76A0A93935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E3582-568A-D5A5-C42F-53C9247194F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Debugging becomes hard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As RSP changes one has to manually keep track where local variables are relative to RSP (</a:t>
            </a:r>
            <a:r>
              <a:rPr lang="en-US" sz="2800" dirty="0">
                <a:solidFill>
                  <a:srgbClr val="0070C0"/>
                </a:solidFill>
                <a:latin typeface="Liberation Sans" pitchFamily="18"/>
              </a:rPr>
              <a:t>RSP + 4 </a:t>
            </a:r>
            <a:r>
              <a:rPr lang="en-US" sz="2800" dirty="0">
                <a:latin typeface="Liberation Sans" pitchFamily="18"/>
              </a:rPr>
              <a:t>or </a:t>
            </a:r>
            <a:r>
              <a:rPr lang="en-US" sz="2800" dirty="0">
                <a:solidFill>
                  <a:srgbClr val="0070C0"/>
                </a:solidFill>
                <a:latin typeface="Liberation Sans" pitchFamily="18"/>
              </a:rPr>
              <a:t>+8</a:t>
            </a:r>
            <a:r>
              <a:rPr lang="en-US" sz="2800" dirty="0">
                <a:latin typeface="Liberation Sans" pitchFamily="18"/>
              </a:rPr>
              <a:t>)</a:t>
            </a:r>
          </a:p>
          <a:p>
            <a:pPr marL="4572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b="1" dirty="0">
                <a:latin typeface="Liberation Sans" pitchFamily="18"/>
              </a:rPr>
              <a:t>Compiler can easily do this and generate correct code!</a:t>
            </a:r>
          </a:p>
          <a:p>
            <a:pPr marL="4572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b="1" dirty="0">
                <a:latin typeface="Liberation Sans" pitchFamily="18"/>
              </a:rPr>
              <a:t>But it's hard for a human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2800" dirty="0">
                <a:latin typeface="Liberation Sans" pitchFamily="18"/>
              </a:rPr>
              <a:t>It's hard to unwind the stack in case of a crash</a:t>
            </a:r>
          </a:p>
          <a:p>
            <a:pPr marL="914400" lvl="3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000" dirty="0">
                <a:latin typeface="Liberation Sans" pitchFamily="18"/>
              </a:rPr>
              <a:t>To print out a </a:t>
            </a:r>
            <a:r>
              <a:rPr lang="en-US" sz="3000" dirty="0" err="1">
                <a:latin typeface="Liberation Sans" pitchFamily="18"/>
              </a:rPr>
              <a:t>backtrace</a:t>
            </a:r>
            <a:endParaRPr lang="en-US" sz="3000" dirty="0">
              <a:latin typeface="Liberation Sans" pitchFamily="1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371F-F0C9-9ABA-A318-0B6AE498316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And you only save...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E0178-ED54-8AE7-0EE0-360987F501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088960"/>
          </a:xfrm>
        </p:spPr>
        <p:txBody>
          <a:bodyPr>
            <a:noAutofit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dirty="0"/>
              <a:t>A stack frame typically costs a couple instructions + one register (RBP as frame pointer)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x86-64 has </a:t>
            </a:r>
            <a:r>
              <a:rPr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general-purpose registers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, so keeping RBP as a frame pointer is usually </a:t>
            </a:r>
            <a:r>
              <a:rPr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affordable</a:t>
            </a:r>
          </a:p>
          <a:p>
            <a:pPr marL="914400" lvl="3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Optimizing compilers often omit the frame pointer by default (-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fomit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-frame-pointer)</a:t>
            </a:r>
          </a:p>
          <a:p>
            <a:pPr marL="914400" lvl="3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GCC/Clang at -O1/-O2/... typically enable that option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For easier backtraces/profiling: compile with -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fno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-omit-frame-pointer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endParaRPr dirty="0"/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endParaRPr dirty="0"/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FA237-7BE3-CDE5-4F01-9B8A876AC3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Relevant part of the GCC manual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2EB763-68BD-2B83-CA7D-B9A5797C3975}"/>
              </a:ext>
            </a:extLst>
          </p:cNvPr>
          <p:cNvSpPr txBox="1"/>
          <p:nvPr/>
        </p:nvSpPr>
        <p:spPr>
          <a:xfrm>
            <a:off x="888357" y="1801185"/>
            <a:ext cx="85102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3.10 Options That Control Optimization</a:t>
            </a:r>
          </a:p>
          <a:p>
            <a:pPr lvl="0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https://gcc.gnu.org/onlinedocs/gcc/Optimize-Options.html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A414-BC84-F69A-6FBC-105AD4F2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E882-F8CE-B564-36F6-65BB94FE9D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Poll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DC98F-EDB7-421A-CC4E-B903F575740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SzPct val="100000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</a:rPr>
              <a:t> 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FiraMono Nerd Font Mono" panose="020B0509050000020004" pitchFamily="49" charset="0"/>
              <a:ea typeface="FiraMono Nerd Font Mono" panose="020B050905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AFDB9-F18B-FBDF-907F-97724AF81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482" y="3324572"/>
            <a:ext cx="3257814" cy="3257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BCF0B1-A780-1BB8-D874-2CCA384CB503}"/>
              </a:ext>
            </a:extLst>
          </p:cNvPr>
          <p:cNvSpPr txBox="1"/>
          <p:nvPr/>
        </p:nvSpPr>
        <p:spPr>
          <a:xfrm>
            <a:off x="5842257" y="6601895"/>
            <a:ext cx="3658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https://</a:t>
            </a:r>
            <a:r>
              <a:rPr lang="en-US" sz="2400" dirty="0" err="1">
                <a:solidFill>
                  <a:srgbClr val="0070C0"/>
                </a:solidFill>
              </a:rPr>
              <a:t>pollev.com</a:t>
            </a:r>
            <a:r>
              <a:rPr lang="en-US" sz="2400" dirty="0">
                <a:solidFill>
                  <a:srgbClr val="0070C0"/>
                </a:solidFill>
              </a:rPr>
              <a:t>/cs5460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2F5DC-B60D-26F4-F474-0CBA33933EC4}"/>
              </a:ext>
            </a:extLst>
          </p:cNvPr>
          <p:cNvSpPr txBox="1"/>
          <p:nvPr/>
        </p:nvSpPr>
        <p:spPr>
          <a:xfrm>
            <a:off x="503999" y="1592699"/>
            <a:ext cx="80803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the calling convention we just discussed how do we pass the first argument to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funciton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019567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5B2638C-101F-AF00-33D3-15A4E8B778C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301320"/>
            <a:ext cx="9071640" cy="5851800"/>
          </a:xfrm>
        </p:spPr>
        <p:txBody>
          <a:bodyPr anchor="ctr"/>
          <a:lstStyle/>
          <a:p>
            <a:pPr lvl="0" algn="ctr"/>
            <a:r>
              <a:rPr lang="en-US" sz="4800"/>
              <a:t>Saving and restoring registers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D668-D64B-5523-34AD-7FAF0CBB4C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Saving register state across invocations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A9BF-F25E-1B7B-7556-D813E67F800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Processor doesn't save registers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General purpose, segment, flags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Again, a calling convention is needed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lang="en-US" sz="3200" dirty="0">
                <a:latin typeface="Liberation Sans" pitchFamily="18"/>
              </a:rPr>
              <a:t>Agreement on what gets saved by the callee and the caller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8D68-6BB9-7F65-F334-9FEC31DFAA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Saving register state across invocations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09695-C09E-578B-C4AC-37D28C2D12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39"/>
            <a:ext cx="9071640" cy="5258777"/>
          </a:xfrm>
        </p:spPr>
        <p:txBody>
          <a:bodyPr/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System V AMD64 (Linux): 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caller-saved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(volatile): RAX, RCX, RDX, RSI, RDI, R8–R11 (+ XMM0–XMM15)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Callee-saved (non-volatile): RBX, RBP, R12–R15 (and RSP must be restored)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if the callee uses a callee-saved register, it must restore it before returning</a:t>
            </a:r>
          </a:p>
          <a:p>
            <a:pPr marL="914400" lvl="2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Caller must assume caller-saved regs are clobbered across a call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8371-0241-634D-6889-BB3768CD39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E5410-6362-749F-AD85-5ACC1CA1C9B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39"/>
            <a:ext cx="9071640" cy="4884309"/>
          </a:xfrm>
        </p:spPr>
        <p:txBody>
          <a:bodyPr>
            <a:noAutofit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In general there are multiple calling conventions / ABIs</a:t>
            </a: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On Linux x86-64 user-space the standard is the System V AMD64 ABI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32-bit code often used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cdecl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stdcall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fastcall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(different rules)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Docs: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https://en.wikipedia.org/wiki/X86_calling_conventions#System_V_AMD64_ABI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hangingPunct="0">
              <a:spcBef>
                <a:spcPts val="0"/>
              </a:spcBef>
              <a:spcAft>
                <a:spcPts val="1414"/>
              </a:spcAft>
              <a:buSzPct val="1000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Be careful when mixing C/assembly, calling into libraries, or crossing ABIs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1C26-C213-77FF-5C2F-B1F1AD2330E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 dirty="0"/>
              <a:t>Intel vs GNU ASM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619B6-3904-0D4E-9AB8-09D032AB12C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39"/>
            <a:ext cx="4426920" cy="5291517"/>
          </a:xfrm>
        </p:spPr>
        <p:txBody>
          <a:bodyPr>
            <a:normAutofit fontScale="77500" lnSpcReduction="20000"/>
          </a:bodyPr>
          <a:lstStyle/>
          <a:p>
            <a:pPr lvl="0">
              <a:buSzPct val="45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Intel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Copy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rbx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rax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mov </a:t>
            </a:r>
            <a:r>
              <a:rPr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rax</a:t>
            </a:r>
            <a:r>
              <a:rPr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, </a:t>
            </a:r>
            <a:r>
              <a:rPr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rbx</a:t>
            </a:r>
            <a:endParaRPr lang="en-US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Move the 8 bytes in memory at the address contained in RBX into RAX</a:t>
            </a:r>
          </a:p>
          <a:p>
            <a:pPr lvl="0"/>
            <a:r>
              <a:rPr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mov </a:t>
            </a:r>
            <a:r>
              <a:rPr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rax</a:t>
            </a:r>
            <a:r>
              <a:rPr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, [</a:t>
            </a:r>
            <a:r>
              <a:rPr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rbx</a:t>
            </a:r>
            <a:r>
              <a:rPr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]</a:t>
            </a:r>
          </a:p>
          <a:p>
            <a:pPr marL="457200" lvl="0" indent="-4572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Move 8 bytes at memory address RSI + (-8) into RAX</a:t>
            </a:r>
          </a:p>
          <a:p>
            <a:pPr lvl="0"/>
            <a:r>
              <a:rPr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mov </a:t>
            </a:r>
            <a:r>
              <a:rPr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rax</a:t>
            </a:r>
            <a:r>
              <a:rPr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, [rsi-8]</a:t>
            </a:r>
          </a:p>
          <a:p>
            <a:pPr lvl="0"/>
            <a:endParaRPr lang="en-US" dirty="0">
              <a:solidFill>
                <a:srgbClr val="9447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20CD5-4A0F-9FF9-F75B-1F5F951F132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563481"/>
            <a:ext cx="4426920" cy="5694874"/>
          </a:xfrm>
        </p:spPr>
        <p:txBody>
          <a:bodyPr>
            <a:normAutofit/>
          </a:bodyPr>
          <a:lstStyle/>
          <a:p>
            <a:pPr lvl="0">
              <a:buSzPct val="45000"/>
            </a:pPr>
            <a:r>
              <a:rPr sz="2500">
                <a:latin typeface="Arial" panose="020B0604020202020204" pitchFamily="34" charset="0"/>
                <a:cs typeface="Arial" panose="020B0604020202020204" pitchFamily="34" charset="0"/>
              </a:rPr>
              <a:t>GNU</a:t>
            </a: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/ATT</a:t>
            </a:r>
            <a:endParaRPr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SzPct val="45000"/>
            </a:pPr>
            <a:endParaRPr lang="en-US" sz="2500" dirty="0">
              <a:solidFill>
                <a:srgbClr val="9447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/>
            <a:r>
              <a:rPr sz="25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mov %</a:t>
            </a:r>
            <a:r>
              <a:rPr sz="25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rbx</a:t>
            </a:r>
            <a:r>
              <a:rPr sz="25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, %</a:t>
            </a:r>
            <a:r>
              <a:rPr sz="25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rax</a:t>
            </a:r>
            <a:endParaRPr lang="en-US" sz="25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  <a:cs typeface="Arial" panose="020B0604020202020204" pitchFamily="34" charset="0"/>
            </a:endParaRPr>
          </a:p>
          <a:p>
            <a:pPr lvl="0" algn="l"/>
            <a:endParaRPr lang="en-US" sz="2500" dirty="0">
              <a:solidFill>
                <a:srgbClr val="9447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/>
            <a:endParaRPr lang="en-US" sz="2500" dirty="0">
              <a:solidFill>
                <a:srgbClr val="9447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/>
            <a:r>
              <a:rPr sz="25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mov (%</a:t>
            </a:r>
            <a:r>
              <a:rPr sz="25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rbx</a:t>
            </a:r>
            <a:r>
              <a:rPr sz="25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), %</a:t>
            </a:r>
            <a:r>
              <a:rPr sz="25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rax</a:t>
            </a:r>
            <a:endParaRPr lang="en-US" sz="25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  <a:cs typeface="Arial" panose="020B0604020202020204" pitchFamily="34" charset="0"/>
            </a:endParaRPr>
          </a:p>
          <a:p>
            <a:pPr lvl="0" algn="l"/>
            <a:endParaRPr lang="en-US" sz="2500" dirty="0">
              <a:solidFill>
                <a:srgbClr val="9447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/>
            <a:endParaRPr lang="en-US" sz="2500" dirty="0">
              <a:solidFill>
                <a:srgbClr val="9447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/>
            <a:r>
              <a:rPr sz="25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mov -8(%</a:t>
            </a:r>
            <a:r>
              <a:rPr sz="25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rsi</a:t>
            </a:r>
            <a:r>
              <a:rPr sz="2500" dirty="0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), %</a:t>
            </a:r>
            <a:r>
              <a:rPr sz="2500" dirty="0" err="1">
                <a:solidFill>
                  <a:srgbClr val="993365"/>
                </a:solidFill>
                <a:latin typeface="FiraMono Nerd Font Mono" panose="020B0509050000020004" pitchFamily="49" charset="0"/>
                <a:ea typeface="FiraMono Nerd Font Mono" panose="020B0509050000020004" pitchFamily="49" charset="0"/>
                <a:cs typeface="Arial" panose="020B0604020202020204" pitchFamily="34" charset="0"/>
              </a:rPr>
              <a:t>rax</a:t>
            </a:r>
            <a:endParaRPr lang="en-US" sz="2500" dirty="0">
              <a:solidFill>
                <a:srgbClr val="993365"/>
              </a:solidFill>
              <a:latin typeface="FiraMono Nerd Font Mono" panose="020B0509050000020004" pitchFamily="49" charset="0"/>
              <a:ea typeface="FiraMono Nerd Font Mono" panose="020B0509050000020004" pitchFamily="49" charset="0"/>
              <a:cs typeface="Arial" panose="020B0604020202020204" pitchFamily="34" charset="0"/>
            </a:endParaRPr>
          </a:p>
          <a:p>
            <a:pPr lvl="0" algn="l"/>
            <a:endParaRPr lang="en-US" sz="2500" dirty="0">
              <a:solidFill>
                <a:srgbClr val="9447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B3FD-DC2E-38EB-0A8B-6328EBE8C6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BD9F1-0BB1-E9A9-54C2-5114118396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https://en.wikibooks.org/wiki/X86_Disassembly/Functions_and_Stack_Frames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https://en.wikipedia.org/wiki/Calling_convention</a:t>
            </a:r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https://en.wikipedia.org/wiki/X86_calling_conventions</a:t>
            </a:r>
            <a:endParaRPr lang="en-US" dirty="0"/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http://stackoverflow.com/questions/14666665/trying-to-understand-gcc-option-fomit-frame-pointer</a:t>
            </a:r>
            <a:endParaRPr lang="en-US" dirty="0"/>
          </a:p>
          <a:p>
            <a:pPr marL="457200" lvl="0" indent="-457200">
              <a:buSzPct val="100000"/>
              <a:buFont typeface="Arial" panose="020B0604020202020204" pitchFamily="34" charset="0"/>
              <a:buChar char="•"/>
            </a:pPr>
            <a:r>
              <a:rPr dirty="0">
                <a:hlinkClick r:id="rId7"/>
              </a:rPr>
              <a:t>https://en.wikipedia.org/wiki/X86_calling_conventions#System_V_AMD64_ABI</a:t>
            </a:r>
            <a:endParaRPr lang="en-US" dirty="0"/>
          </a:p>
          <a:p>
            <a:pPr lvl="0">
              <a:buSzPct val="100000"/>
            </a:pPr>
            <a:endParaRPr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2823" y="2960334"/>
            <a:ext cx="2368946" cy="1583901"/>
          </a:xfrm>
        </p:spPr>
        <p:txBody>
          <a:bodyPr/>
          <a:lstStyle/>
          <a:p>
            <a:r>
              <a:rPr lang="en-US" sz="3969" dirty="0">
                <a:solidFill>
                  <a:srgbClr val="0070C0"/>
                </a:solidFill>
              </a:rPr>
              <a:t>Thank you!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F7C26-5391-E1A8-542C-DB0DFE704B3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139" y="938306"/>
            <a:ext cx="7178486" cy="5676707"/>
          </a:xfrm>
          <a:prstGeom prst="rect">
            <a:avLst/>
          </a:prstGeom>
          <a:noFill/>
        </p:spPr>
      </p:pic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B50893EC-12B2-955B-BAB9-5C457C002010}"/>
              </a:ext>
            </a:extLst>
          </p:cNvPr>
          <p:cNvSpPr/>
          <p:nvPr/>
        </p:nvSpPr>
        <p:spPr>
          <a:xfrm>
            <a:off x="5029965" y="1095878"/>
            <a:ext cx="3272787" cy="1864456"/>
          </a:xfrm>
          <a:prstGeom prst="wedgeRoundRectCallout">
            <a:avLst>
              <a:gd name="adj1" fmla="val -73592"/>
              <a:gd name="adj2" fmla="val 4657"/>
              <a:gd name="adj3" fmla="val 16667"/>
            </a:avLst>
          </a:prstGeom>
          <a:solidFill>
            <a:srgbClr val="EDF6F8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15" dirty="0">
                <a:solidFill>
                  <a:srgbClr val="0070C0"/>
                </a:solidFill>
              </a:rPr>
              <a:t>Let’s drop stack frames and save an extra register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6813BD5E-9176-7301-3A5B-4A3A3EBD1008}"/>
              </a:ext>
            </a:extLst>
          </p:cNvPr>
          <p:cNvSpPr/>
          <p:nvPr/>
        </p:nvSpPr>
        <p:spPr>
          <a:xfrm>
            <a:off x="5275527" y="3115290"/>
            <a:ext cx="3165088" cy="1717967"/>
          </a:xfrm>
          <a:prstGeom prst="wedgeRoundRectCallout">
            <a:avLst>
              <a:gd name="adj1" fmla="val -69406"/>
              <a:gd name="adj2" fmla="val -56961"/>
              <a:gd name="adj3" fmla="val 16667"/>
            </a:avLst>
          </a:prstGeom>
          <a:solidFill>
            <a:srgbClr val="EDF6F8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15" dirty="0">
                <a:solidFill>
                  <a:srgbClr val="0070C0"/>
                </a:solidFill>
              </a:rPr>
              <a:t>Agree… debugging is not our problem</a:t>
            </a:r>
          </a:p>
        </p:txBody>
      </p:sp>
    </p:spTree>
    <p:extLst>
      <p:ext uri="{BB962C8B-B14F-4D97-AF65-F5344CB8AC3E}">
        <p14:creationId xmlns:p14="http://schemas.microsoft.com/office/powerpoint/2010/main" val="213749173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14230</TotalTime>
  <Words>3559</Words>
  <Application>Microsoft Macintosh PowerPoint</Application>
  <PresentationFormat>Custom</PresentationFormat>
  <Paragraphs>678</Paragraphs>
  <Slides>61</Slides>
  <Notes>61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Aptos</vt:lpstr>
      <vt:lpstr>Arial</vt:lpstr>
      <vt:lpstr>FiraMono Nerd Font Mono</vt:lpstr>
      <vt:lpstr>Liberation Sans</vt:lpstr>
      <vt:lpstr>Liberation Serif</vt:lpstr>
      <vt:lpstr>LM Mono 10</vt:lpstr>
      <vt:lpstr>LMMono10</vt:lpstr>
      <vt:lpstr>StarSymbol</vt:lpstr>
      <vt:lpstr>Default</vt:lpstr>
      <vt:lpstr>cs5460/6460 Operating Systems Lecture 4: Function invocations, and calling conventions</vt:lpstr>
      <vt:lpstr>PowerPoint Presentation</vt:lpstr>
      <vt:lpstr>PowerPoint Presentation</vt:lpstr>
      <vt:lpstr>Stack</vt:lpstr>
      <vt:lpstr>PowerPoint Presentation</vt:lpstr>
      <vt:lpstr>PowerPoint Presentation</vt:lpstr>
      <vt:lpstr>Calling functions</vt:lpstr>
      <vt:lpstr>Stack</vt:lpstr>
      <vt:lpstr>Stack</vt:lpstr>
      <vt:lpstr>Example</vt:lpstr>
      <vt:lpstr>Manipulating stack</vt:lpstr>
      <vt:lpstr>Manipulating stack</vt:lpstr>
      <vt:lpstr>PowerPoint Presentation</vt:lpstr>
      <vt:lpstr>Calling conventions</vt:lpstr>
      <vt:lpstr>Idea 1: Maintain stack as frames</vt:lpstr>
      <vt:lpstr>Idea 1: Maintain stack as frames</vt:lpstr>
      <vt:lpstr>Idea 1: Maintain stack as frames</vt:lpstr>
      <vt:lpstr>Prologue/epilogue</vt:lpstr>
      <vt:lpstr>PowerPoint Presentation</vt:lpstr>
      <vt:lpstr>What types of variables do you know?</vt:lpstr>
      <vt:lpstr>What types of variables do you know?</vt:lpstr>
      <vt:lpstr>Global variables</vt:lpstr>
      <vt:lpstr>Global variables</vt:lpstr>
      <vt:lpstr>Global variables</vt:lpstr>
      <vt:lpstr>Dynamic variables (heap)</vt:lpstr>
      <vt:lpstr>Dynamic variables (heap)</vt:lpstr>
      <vt:lpstr>Dynamic variables (heap)</vt:lpstr>
      <vt:lpstr>Local variables</vt:lpstr>
      <vt:lpstr>Local variables...</vt:lpstr>
      <vt:lpstr>How to allocate local variables?</vt:lpstr>
      <vt:lpstr>How to allocate local variables?</vt:lpstr>
      <vt:lpstr>Poll Q1: Where do we allocate global variables</vt:lpstr>
      <vt:lpstr>Poll Q2: Where do we allocate dynamic variables</vt:lpstr>
      <vt:lpstr>Allocating local variables</vt:lpstr>
      <vt:lpstr>Example</vt:lpstr>
      <vt:lpstr>Example</vt:lpstr>
      <vt:lpstr>How to pass arguments?</vt:lpstr>
      <vt:lpstr>How to pass arguments?</vt:lpstr>
      <vt:lpstr>x86-64 (System V): passing arguments in registers</vt:lpstr>
      <vt:lpstr>Example stack</vt:lpstr>
      <vt:lpstr>Example: caller side code</vt:lpstr>
      <vt:lpstr>Example: caller side code</vt:lpstr>
      <vt:lpstr>Example: caller side code</vt:lpstr>
      <vt:lpstr>Example: caller side code</vt:lpstr>
      <vt:lpstr>Example: caller side code</vt:lpstr>
      <vt:lpstr>Example: caller side code</vt:lpstr>
      <vt:lpstr>Example: callee side code</vt:lpstr>
      <vt:lpstr>leave instruction</vt:lpstr>
      <vt:lpstr>Back to stack frames, so why do we need them?</vt:lpstr>
      <vt:lpstr>Referencing args without frames</vt:lpstr>
      <vt:lpstr>PowerPoint Presentation</vt:lpstr>
      <vt:lpstr>And you only save...</vt:lpstr>
      <vt:lpstr>Relevant part of the GCC manual</vt:lpstr>
      <vt:lpstr>Poll</vt:lpstr>
      <vt:lpstr>PowerPoint Presentation</vt:lpstr>
      <vt:lpstr>Saving register state across invocations</vt:lpstr>
      <vt:lpstr>Saving register state across invocations</vt:lpstr>
      <vt:lpstr>PowerPoint Presentation</vt:lpstr>
      <vt:lpstr>Intel vs GNU ASM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cs5460/6460 Operating Systems Lecture 4: Function invocations, and calling conventions</dc:title>
  <dc:creator>Anton Burtsev</dc:creator>
  <cp:lastModifiedBy>Anton Burtsev</cp:lastModifiedBy>
  <cp:revision>349</cp:revision>
  <dcterms:created xsi:type="dcterms:W3CDTF">2012-05-17T21:33:40Z</dcterms:created>
  <dcterms:modified xsi:type="dcterms:W3CDTF">2026-01-21T23:51:25Z</dcterms:modified>
</cp:coreProperties>
</file>