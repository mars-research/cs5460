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8"/>
  </p:notesMasterIdLst>
  <p:handoutMasterIdLst>
    <p:handoutMasterId r:id="rId10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20" r:id="rId10"/>
    <p:sldId id="321" r:id="rId11"/>
    <p:sldId id="265" r:id="rId12"/>
    <p:sldId id="266" r:id="rId13"/>
    <p:sldId id="267" r:id="rId14"/>
    <p:sldId id="268" r:id="rId15"/>
    <p:sldId id="269" r:id="rId16"/>
    <p:sldId id="270" r:id="rId17"/>
    <p:sldId id="323" r:id="rId18"/>
    <p:sldId id="324" r:id="rId19"/>
    <p:sldId id="325" r:id="rId20"/>
    <p:sldId id="326" r:id="rId21"/>
    <p:sldId id="327" r:id="rId22"/>
    <p:sldId id="371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1" r:id="rId35"/>
    <p:sldId id="343" r:id="rId36"/>
    <p:sldId id="345" r:id="rId37"/>
    <p:sldId id="346" r:id="rId38"/>
    <p:sldId id="347" r:id="rId39"/>
    <p:sldId id="348" r:id="rId40"/>
    <p:sldId id="349" r:id="rId41"/>
    <p:sldId id="350" r:id="rId42"/>
    <p:sldId id="372" r:id="rId43"/>
    <p:sldId id="351" r:id="rId44"/>
    <p:sldId id="352" r:id="rId45"/>
    <p:sldId id="359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67" r:id="rId54"/>
    <p:sldId id="368" r:id="rId55"/>
    <p:sldId id="369" r:id="rId56"/>
    <p:sldId id="373" r:id="rId57"/>
    <p:sldId id="322" r:id="rId58"/>
    <p:sldId id="271" r:id="rId59"/>
    <p:sldId id="272" r:id="rId60"/>
    <p:sldId id="273" r:id="rId61"/>
    <p:sldId id="274" r:id="rId62"/>
    <p:sldId id="275" r:id="rId63"/>
    <p:sldId id="276" r:id="rId64"/>
    <p:sldId id="277" r:id="rId65"/>
    <p:sldId id="278" r:id="rId66"/>
    <p:sldId id="279" r:id="rId67"/>
    <p:sldId id="280" r:id="rId68"/>
    <p:sldId id="281" r:id="rId69"/>
    <p:sldId id="282" r:id="rId70"/>
    <p:sldId id="283" r:id="rId71"/>
    <p:sldId id="284" r:id="rId72"/>
    <p:sldId id="285" r:id="rId73"/>
    <p:sldId id="286" r:id="rId74"/>
    <p:sldId id="308" r:id="rId75"/>
    <p:sldId id="309" r:id="rId76"/>
    <p:sldId id="310" r:id="rId77"/>
    <p:sldId id="311" r:id="rId78"/>
    <p:sldId id="313" r:id="rId79"/>
    <p:sldId id="312" r:id="rId80"/>
    <p:sldId id="287" r:id="rId81"/>
    <p:sldId id="288" r:id="rId82"/>
    <p:sldId id="289" r:id="rId83"/>
    <p:sldId id="290" r:id="rId84"/>
    <p:sldId id="291" r:id="rId85"/>
    <p:sldId id="292" r:id="rId86"/>
    <p:sldId id="293" r:id="rId87"/>
    <p:sldId id="294" r:id="rId88"/>
    <p:sldId id="314" r:id="rId89"/>
    <p:sldId id="315" r:id="rId90"/>
    <p:sldId id="316" r:id="rId91"/>
    <p:sldId id="317" r:id="rId92"/>
    <p:sldId id="318" r:id="rId93"/>
    <p:sldId id="319" r:id="rId94"/>
    <p:sldId id="295" r:id="rId95"/>
    <p:sldId id="296" r:id="rId96"/>
    <p:sldId id="297" r:id="rId97"/>
    <p:sldId id="298" r:id="rId98"/>
    <p:sldId id="299" r:id="rId99"/>
    <p:sldId id="300" r:id="rId100"/>
    <p:sldId id="301" r:id="rId101"/>
    <p:sldId id="302" r:id="rId102"/>
    <p:sldId id="303" r:id="rId103"/>
    <p:sldId id="304" r:id="rId104"/>
    <p:sldId id="305" r:id="rId105"/>
    <p:sldId id="307" r:id="rId106"/>
    <p:sldId id="306" r:id="rId107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6A0D4D-F1C6-244F-8BBB-150A101ADB4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320"/>
            <p14:sldId id="321"/>
            <p14:sldId id="265"/>
            <p14:sldId id="266"/>
            <p14:sldId id="267"/>
            <p14:sldId id="268"/>
            <p14:sldId id="269"/>
            <p14:sldId id="270"/>
            <p14:sldId id="323"/>
            <p14:sldId id="324"/>
            <p14:sldId id="325"/>
            <p14:sldId id="326"/>
            <p14:sldId id="327"/>
            <p14:sldId id="371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1"/>
            <p14:sldId id="343"/>
            <p14:sldId id="345"/>
            <p14:sldId id="346"/>
            <p14:sldId id="347"/>
            <p14:sldId id="348"/>
            <p14:sldId id="349"/>
            <p14:sldId id="350"/>
            <p14:sldId id="372"/>
            <p14:sldId id="351"/>
            <p14:sldId id="352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3"/>
            <p14:sldId id="322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308"/>
            <p14:sldId id="309"/>
            <p14:sldId id="310"/>
            <p14:sldId id="311"/>
            <p14:sldId id="313"/>
            <p14:sldId id="312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314"/>
            <p14:sldId id="315"/>
            <p14:sldId id="316"/>
            <p14:sldId id="317"/>
            <p14:sldId id="318"/>
            <p14:sldId id="319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7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47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9"/>
    <p:restoredTop sz="94712"/>
  </p:normalViewPr>
  <p:slideViewPr>
    <p:cSldViewPr snapToGrid="0">
      <p:cViewPr>
        <p:scale>
          <a:sx n="140" d="100"/>
          <a:sy n="140" d="100"/>
        </p:scale>
        <p:origin x="18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3FBFCF-28A3-6D3C-4ED1-65AF49E4F5D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01ED2-A3D2-D288-78A8-40865619C0E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6A3D7-97C9-9814-B2BA-6280AE6C218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C3BD0-5248-011A-61CF-58976FEB1D72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compatLnSpc="0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45136DA-A52F-1A4C-ACEA-6FF8E2D5FF76}" type="slidenum">
              <a:t>‹#›</a:t>
            </a:fld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210627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2997C-B867-B9B1-D5F9-A397400CC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64280"/>
            <a:ext cx="502848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3F0B9-D8A0-9D3A-B6AC-6EC2182279D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3F1FA38-5D40-7D20-4557-750D1F3E7E7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2C0-17EB-BC06-C7E2-4E28E6C913E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algn="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35C5C-DF22-A79A-3A62-1BC1D5F22D1D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lv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662F7-10FB-B756-0E81-6B1CC85752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lvl="0" algn="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E166643-42AB-A447-817D-435E25A5F2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06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5FBB4-2DE4-6A84-A82C-DC04466F2C4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63391E6-00CD-A048-9207-2A6B72E51329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E7BAE-3A25-B640-48EA-93B7D9C879A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C0829-9D3C-0542-D325-19DDDCF5D8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46B16-926B-42C2-6B23-761D9B3B4E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540110D3-B7DA-9143-9B04-5BA8F20652A1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6E2A6-0A6A-A028-318D-4C08BE6D47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161B0-C8A7-8659-920E-FA3148F677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70EFE-565B-ECA1-81F9-52DBBD3C79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C708528-83EE-5C44-8770-5835E61013E7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F7FA7-723D-C044-5A8F-250F24EDB4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974DD-C0E4-6C24-FC98-368BF3A25CD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E5AC1-9264-E8EE-B9C6-8A59D2572E3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C2EC4A-412F-074E-8534-F905EF655076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BC7D3-5FC5-10AD-E8E2-51266A3EB8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18978-FDEA-A457-5888-421EFD72AA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B76EC-08AA-8069-6FD4-9B2F3FEA0B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F144661-E8BC-8E4E-B479-367B58E97CCA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A8127-1FBA-B758-352D-0C9E855A6C3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4F326-25F1-8440-B924-03C5814F9C4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D3B71-14A8-C771-17BA-211C9BB7DF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78541B2-79B6-AA46-BA86-3268804CF5B3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B4E6E-8734-1016-46F8-AE44F2F712F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DF2AC-CF41-2473-0ECB-FD36EB4FA3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C9F1A-DA32-1642-AC7E-B01A140621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55EFADB6-34C1-6548-BFDB-3B7BA01B8B68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434EE-B16B-6EF9-A840-6C14DB82BC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9F2B5-0DBA-3B38-C258-4D05921F6E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C0F55-91D5-6CE9-CD19-0F6D674474E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2587006-2D6B-5743-983B-A9468F8AC9C3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4BE57-0035-F80F-5FCB-A3779A57856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328E7-EBC4-2EC8-665D-5E3CDBC29E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DA157-F638-AEB0-280B-DCFF273AA16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1F16438-295C-0F41-90B7-34FDE053EB24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1E355-5853-0E78-FF38-7250B48B6C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B4DC6-C999-062C-8330-13AED2D610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69159-E8A7-8CBA-DD46-5BD8BF2C28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75BF0B6-9598-5949-A839-055B17AE1431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8841A-1EEA-E7C9-0338-3A3F02653A7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4BA45-5AC0-5243-7888-229AF90BE3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9ED25-402F-1E74-46AE-EA8A6480BE5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5AD0899C-9E2E-5643-BBDE-9311257512D2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510A1-DD85-F160-AC14-9F7A9F43FC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F2700-44EC-1CE5-B86A-FB68218E5C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84562-1BAA-041A-F4DD-7711617572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6581DA5-3563-D247-9071-7DD44029414E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94666-9381-82DC-0B67-B5100294865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A1ECF-B70B-E5EE-8CAF-BB29F07E86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4556B-351F-7E05-5EF9-ED40A735A95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A387C571-0E18-A24B-8F47-331B494E0ABA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000EE-9C63-8BE0-D235-09DC25DBFD8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D307F-E4EE-A14E-C244-EB87CD88FD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75179-0AC3-46AA-1B47-915C2115D57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8AD24482-99B1-F947-8CC8-3649F3639000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F41F6-BF42-30E2-218B-B6062972A06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862D5-9799-C0DD-B6CD-2CBEFE7878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68F35-6807-C109-CC7E-3F51BAF792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8A3F99F6-3524-2F4C-977B-936312C0FF7B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3B350-2322-A01B-47B2-BD1A30D0D1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96104-AD9A-88D8-D45F-75298E6E85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819F0-BFFA-5DDF-F185-2FCBB4BE6D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F6984B3-D645-9E4A-B205-5E5D83E4CD46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A31D3-526B-6751-4117-B8E4C48BF2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397B7-0B36-44A8-76E1-CAA03459F6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85E38-F068-CF21-6F14-0EB88928DF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D3C6536-54D9-6B45-AD16-F61BAE6A2F72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722FC-CA28-9646-979A-75AD680159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578BC-3C4E-F1A6-33EF-8D011C5AF0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DA000-EEA9-5D8D-E2F8-170A4D958B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B3D416A-769D-7B47-B433-DC294CABD54D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12855-3426-A6BD-C859-8FA85CF1AE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0EEB0-3E22-38AF-3D4E-926A159F28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416C5-32A9-0D56-2547-DF8FF5D3BD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E17E979-D477-654E-B8AD-93838E4E6652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D2279-9D11-DB25-5A63-230B3BDAA9B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657D3-FC1B-BC63-419F-4DA7C3247A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7C093-3756-D089-319E-3B5365BE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45ED0-34F3-8698-615B-239553ED8C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F8C5F65-8615-EB48-BF60-E3960401B38D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FC9A7-AF1D-4471-8214-7FBF100EF5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8EDCB-7566-8B02-32AD-5967371364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879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380F4-193D-3AF0-39A6-3AEE750F26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C2170BD-6BD0-9B47-917A-59EE4E29821F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6ACD9-CDB8-AFE7-8FFD-CCF5662729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96E45-6257-1128-A551-A6EE6F639F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4800F-D338-BBE1-DE25-E92D77299F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C1F9FB0-4DE8-3443-BAD3-EF79F6F6C834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31EDB-AF8A-8F54-9540-0FA8F507F2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806BA-BC3F-2ACC-B542-E45EE7F086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E15A6-0119-5656-E3A1-DA5A1B5804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3D0A24E-C39F-1642-B176-1FD8B071FA38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AD014-F532-4AEB-33D9-3ED7D485C62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C4487-00D8-A9B6-8842-4AA467952E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2867B-44F0-4669-A52D-09D23792A2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5D786EE-5002-2C4F-9405-BF99C61C3917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EEBB7-76D8-5D38-C3BB-43704C48EB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DBEC8-C628-3F3B-953C-92985CB995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1BFB8-5392-0045-8E6D-88C6CAF1AB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1872A13-41A6-224B-87A4-4C77CEBC2921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0ADCF-4F95-65DB-5960-C8FD48C64C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FB373-41A5-ACF7-FECD-02BF7A9FDE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75BF1-4965-B1DB-18EE-9181B26118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E7E018E-5035-4744-BFC0-7408C2D64148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8879-4B5F-C0D7-164D-7F7997D391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E47A1-EF31-60D4-84FF-B0FF4BD6E6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482A8-A7EA-F55E-1C3F-6E5FEB3883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B547070-C976-0C4C-9ABB-3D90B2953E94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F1CDA-6291-E6D1-7799-ABD49AC323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EBDBB-3652-A1B0-FCF6-FDD803C6C5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AD04-4026-7FDA-311B-823FF358CE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BB7E10D-F027-DE4A-96FE-F327A371F8AE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DF424-641C-3954-95D2-ED30B0EAA9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1A5F4-C555-DD33-AB96-4F0C5B6C6C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26C52-290D-2364-F6FE-B3EF6453E0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1E82D-D4A6-257A-1AD1-2480CCB156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F0EF8-D632-44F7-C0CF-0C5E1EDD22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73C84-1162-C930-CC4D-93CB4133FB5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FB8326A-A635-0441-8B4B-F753E715DDB3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F521E-C70F-32DD-55C2-AB366735241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D6F17-0874-44EE-2C85-3902353225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79D2-17E4-6DE2-E664-FADFE39C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B0CCC-DCC3-552E-E71E-6E008B6732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3E8CB-37D2-FF72-4516-9BF4080A90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63FF0-F789-A297-2DB9-736E728E5C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846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D182-2920-ED70-6D45-8320D545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BE7D8-7BB2-D8BB-3C2F-193DCC6913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35E28-0836-6781-C868-1E6A733F90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322F8-704B-CCD7-1A80-D0871D186A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757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7519-72F8-D7EE-C6F4-9B336C4D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465A0-0701-9F4B-63AF-0ADA7AA5D6D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E1619-0481-12DC-A378-86F72F2E37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6118C-91B1-1AB8-A521-FCC173C7C7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584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E0B36-5988-C0D0-E88E-FA987F92382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E2248C7-E395-8243-83C7-CEDA3C80980D}" type="slidenum">
              <a:t>36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73982-77F1-4DA4-0C39-2F1D0FF3FA6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C80B4-DAE5-8CCB-81B3-F9F15DB3C2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F45B-2D17-4156-57AE-F617ADD346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9C490AA-3D92-D94F-B38D-65A5F6EDF70F}" type="slidenum">
              <a:t>37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74C4B-2223-E8A7-4B80-19C046152E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B6003-4D5E-5B05-7F61-0828D2B1CC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5A897-2299-3E8C-31BD-9B19E2889FA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317D67F-8AA0-C14E-AB4E-DEFA2E90AE08}" type="slidenum">
              <a:t>38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CD4EF-9FD2-6A9F-4175-B3EC66AC1D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D3250-211F-C515-6908-A2B928754A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4AC87-AFAF-531A-D9A6-3A31CE7D86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ACB13-5E4C-724E-8AFB-115851BF8782}" type="slidenum">
              <a:t>39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52F4D-BBCD-AF77-D295-08C7A73A40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FE75D-A186-EABE-9890-AF55B85D41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E7FA0-DCA1-2AB2-38C5-C7EA33429F0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BDC2213-2984-F844-91E5-D9AF0162D616}" type="slidenum">
              <a:t>40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32A73-589A-E2CB-5085-45597DB3438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8CBF7-5903-AFE1-748F-DF04E04FB3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AB251-3D16-021F-B95D-606632BDCB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C5AAC56-1B90-AB40-B339-F5D19A374454}" type="slidenum">
              <a:t>41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8436C-DDED-867E-1142-561D5D7D7D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EBAFD-5C86-3BBB-2E38-47E8098E4C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3975B-278C-C92E-C77A-BA89782C26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AEC9F734-E50D-4943-B2F0-B99355D89F1F}" type="slidenum">
              <a:t>43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F4F84-251A-0358-30F5-0028E895BD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7EE93-2F18-4D70-6824-894EE0D072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F64E0-4C59-B94E-979B-BFE1E4F7BB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C818072-5519-2741-BBD7-509B12B10A32}" type="slidenum">
              <a:t>44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CB039-468D-D739-6EF3-2D2D2E0219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0D5F4-95F6-B9FD-DFCB-D8BDE605CF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DC3AB-A14D-7C41-B042-E9DFFC1841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29190FF-AE14-1843-A10A-2153921AE1DD}" type="slidenum">
              <a:t>45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25A2C-CA39-5EF1-E122-E5E797EBF4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03751-86C6-5A6A-E04A-35B803E46A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39E15-5AE1-CF56-104E-678251CACE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7968B7A-83CA-6446-8DC2-C9F0738C6F2A}" type="slidenum">
              <a:t>46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A5FF9-9675-999F-A654-FA872DB469A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026CC-DB25-A051-C510-67A5411F0E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2E626-306D-D81B-36FA-50AB9B4F0E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8A13831-81B1-1A45-94E9-B0BA4DFD727B}" type="slidenum">
              <a:t>47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54B8B-21C9-89DA-9E5D-CE370E477C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FC141-34E8-B24B-8BD1-2DAB8C0190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631FC-6480-67DE-D9D8-99E2358066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A58D851-C362-864B-9415-B9BCF2360863}" type="slidenum">
              <a:t>48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8EFB9-C090-B1FE-A4D3-AB6E47DC0D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0D97A-6DD0-8318-B5EB-4F560AA2DE7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C7912-E944-2591-14F9-1237D9FE1C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5308C66-B0BE-9847-8FD1-86CB5E918AEE}" type="slidenum">
              <a:t>49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76C95-E42F-70C9-7973-1FDA6E72AD4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153B8-59AD-764C-581C-618F83B723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8BCC0-24AA-6026-2506-37D4C91A41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14E1FA6-D93C-354B-903C-72F560D61ED8}" type="slidenum">
              <a:t>50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DC4D5-7278-8B80-A9FD-6784E1127B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F801F-C17C-1D65-78E2-578124BBB7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4A5D3-FC4E-13D7-64DE-BE4CBCE50E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9AA812B-BD45-E04D-8281-75E6FCAFF195}" type="slidenum">
              <a:t>51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991E4-2C32-539C-6DF4-376DF747D1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27245-777A-58EC-5BB6-8088DBBC09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F630A-8AD8-4F98-108F-026E2FF17D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BE26A1E-7063-2E4E-AD69-CFAA62D7E303}" type="slidenum">
              <a:t>52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1CD85-7DD9-6F1F-D115-67FC86BE4E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FC32E-BD90-BA61-89A7-FE0FD21277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67C36-2205-A663-DB68-D9AE8BB97C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7FC12B9-7FFD-544C-90D3-9BE38B2A3A7A}" type="slidenum">
              <a:t>53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152A8-6497-E1AD-B332-9C4715ED93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6C3AB-2AF9-F696-E80A-929F7D0A1D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C4D00-0E9A-9670-F092-3CC8EDA6E6A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B046654-BFA5-5846-862C-4504817ECCB2}" type="slidenum">
              <a:t>54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97ED3-8F58-44F3-62DD-8269472935E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F8432-BE09-A790-8F8F-345FF1DC0C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8E86-F16F-3ED4-FE94-4581B80F37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2FB0490-00D9-1F4E-8B84-29A6667D6C8D}" type="slidenum">
              <a:t>55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85EC8-5E96-B50C-C8AE-DCAE0663A5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6B973-FA95-9F40-9962-3D6784362E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5C477-61CD-4CEC-A624-BD9F4F09E1E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935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68F35-6807-C109-CC7E-3F51BAF792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8A3F99F6-3524-2F4C-977B-936312C0FF7B}" type="slidenum">
              <a:t>58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3B350-2322-A01B-47B2-BD1A30D0D1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96104-AD9A-88D8-D45F-75298E6E85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819F0-BFFA-5DDF-F185-2FCBB4BE6D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F6984B3-D645-9E4A-B205-5E5D83E4CD46}" type="slidenum">
              <a:t>59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A31D3-526B-6751-4117-B8E4C48BF2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397B7-0B36-44A8-76E1-CAA03459F6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85E38-F068-CF21-6F14-0EB88928DF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D3C6536-54D9-6B45-AD16-F61BAE6A2F72}" type="slidenum">
              <a:t>60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722FC-CA28-9646-979A-75AD680159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578BC-3C4E-F1A6-33EF-8D011C5AF0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DA000-EEA9-5D8D-E2F8-170A4D958B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B3D416A-769D-7B47-B433-DC294CABD54D}" type="slidenum">
              <a:t>61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12855-3426-A6BD-C859-8FA85CF1AE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0EEB0-3E22-38AF-3D4E-926A159F28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416C5-32A9-0D56-2547-DF8FF5D3BD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E17E979-D477-654E-B8AD-93838E4E6652}" type="slidenum">
              <a:t>62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D2279-9D11-DB25-5A63-230B3BDAA9B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657D3-FC1B-BC63-419F-4DA7C3247A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4B308-ED4F-14A6-D215-E09E398BC04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F8C5F65-8615-EB48-BF60-E3960401B38D}" type="slidenum">
              <a:t>63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9A293-EC5C-DE7B-D47D-B43F4AD05BE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FF7C8-ABC1-FAA9-E0AD-70E0ECDED8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380F4-193D-3AF0-39A6-3AEE750F26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C2170BD-6BD0-9B47-917A-59EE4E29821F}" type="slidenum">
              <a:t>64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6ACD9-CDB8-AFE7-8FFD-CCF5662729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96E45-6257-1128-A551-A6EE6F639F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4800F-D338-BBE1-DE25-E92D77299F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C1F9FB0-4DE8-3443-BAD3-EF79F6F6C834}" type="slidenum">
              <a:t>65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31EDB-AF8A-8F54-9540-0FA8F507F2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806BA-BC3F-2ACC-B542-E45EE7F086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E15A6-0119-5656-E3A1-DA5A1B5804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3D0A24E-C39F-1642-B176-1FD8B071FA38}" type="slidenum">
              <a:t>66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AD014-F532-4AEB-33D9-3ED7D485C62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C4487-00D8-A9B6-8842-4AA467952E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2867B-44F0-4669-A52D-09D23792A2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5D786EE-5002-2C4F-9405-BF99C61C3917}" type="slidenum">
              <a:t>67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EEBB7-76D8-5D38-C3BB-43704C48EB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DBEC8-C628-3F3B-953C-92985CB995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1BFB8-5392-0045-8E6D-88C6CAF1AB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1872A13-41A6-224B-87A4-4C77CEBC2921}" type="slidenum">
              <a:t>68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0ADCF-4F95-65DB-5960-C8FD48C64C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FB373-41A5-ACF7-FECD-02BF7A9FDE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75BF1-4965-B1DB-18EE-9181B26118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E7E018E-5035-4744-BFC0-7408C2D64148}" type="slidenum">
              <a:t>69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8879-4B5F-C0D7-164D-7F7997D391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E47A1-EF31-60D4-84FF-B0FF4BD6E6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482A8-A7EA-F55E-1C3F-6E5FEB3883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B547070-C976-0C4C-9ABB-3D90B2953E94}" type="slidenum">
              <a:t>70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F1CDA-6291-E6D1-7799-ABD49AC323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EBDBB-3652-A1B0-FCF6-FDD803C6C5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AD04-4026-7FDA-311B-823FF358CE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BB7E10D-F027-DE4A-96FE-F327A371F8AE}" type="slidenum">
              <a:t>71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DF424-641C-3954-95D2-ED30B0EAA9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1A5F4-C555-DD33-AB96-4F0C5B6C6C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26C52-290D-2364-F6FE-B3EF6453E0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72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1E82D-D4A6-257A-1AD1-2480CCB156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F0EF8-D632-44F7-C0CF-0C5E1EDD22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73C84-1162-C930-CC4D-93CB4133FB5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FB8326A-A635-0441-8B4B-F753E715DDB3}" type="slidenum">
              <a:t>73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F521E-C70F-32DD-55C2-AB366735241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D6F17-0874-44EE-2C85-3902353225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79D2-17E4-6DE2-E664-FADFE39C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B0CCC-DCC3-552E-E71E-6E008B6732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74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3E8CB-37D2-FF72-4516-9BF4080A90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63FF0-F789-A297-2DB9-736E728E5C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8464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D7ED-38F4-B34F-41F2-91454962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D8706-0ED2-30CB-03C4-B6D14E781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EDCD8-74DD-7817-B54C-2337D26DC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inside ebx?</a:t>
            </a:r>
          </a:p>
          <a:p>
            <a:r>
              <a:rPr lang="en-US"/>
              <a:t>https://www.polleverywhere.com/multiple_choice_polls/lrCccnGm68FB3B7E5O6Sj?state=opened&amp;flow=Default&amp;onscreen=persist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D35D3-068A-6D66-42CC-7FC5096C3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BE166643-42AB-A447-817D-435E25A5F27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1134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D182-2920-ED70-6D45-8320D545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BE7D8-7BB2-D8BB-3C2F-193DCC6913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76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35E28-0836-6781-C868-1E6A733F90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322F8-704B-CCD7-1A80-D0871D186A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7578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this instruciton mov ebx, [eax] doing?</a:t>
            </a:r>
          </a:p>
          <a:p>
            <a:r>
              <a:rPr lang="en-US"/>
              <a:t>https://www.polleverywhere.com/multiple_choice_polls/Nu5xKXhHLrsm0NopeA8pm?state=opened&amp;flow=Default&amp;onscreen=persist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BE166643-42AB-A447-817D-435E25A5F279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3564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7519-72F8-D7EE-C6F4-9B336C4D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465A0-0701-9F4B-63AF-0ADA7AA5D6D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78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E1619-0481-12DC-A378-86F72F2E37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6118C-91B1-1AB8-A521-FCC173C7C7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584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Is this a legal x86 instruction? mov [eax], [ebx]</a:t>
            </a:r>
          </a:p>
          <a:p>
            <a:r>
              <a:rPr lang="en-US"/>
              <a:t>https://www.polleverywhere.com/multiple_choice_polls/kDWvtqhRVLbMKc48fwMVg?state=opened&amp;flow=Default&amp;onscreen=persist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BE166643-42AB-A447-817D-435E25A5F279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5514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E0B36-5988-C0D0-E88E-FA987F92382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E2248C7-E395-8243-83C7-CEDA3C80980D}" type="slidenum">
              <a:t>80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73982-77F1-4DA4-0C39-2F1D0FF3FA6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C80B4-DAE5-8CCB-81B3-F9F15DB3C2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F45B-2D17-4156-57AE-F617ADD346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9C490AA-3D92-D94F-B38D-65A5F6EDF70F}" type="slidenum">
              <a:t>81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74C4B-2223-E8A7-4B80-19C046152E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B6003-4D5E-5B05-7F61-0828D2B1CC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5A897-2299-3E8C-31BD-9B19E2889FA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317D67F-8AA0-C14E-AB4E-DEFA2E90AE08}" type="slidenum">
              <a:t>82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CD4EF-9FD2-6A9F-4175-B3EC66AC1D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D3250-211F-C515-6908-A2B928754A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4AC87-AFAF-531A-D9A6-3A31CE7D86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ACB13-5E4C-724E-8AFB-115851BF8782}" type="slidenum">
              <a:t>83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52F4D-BBCD-AF77-D295-08C7A73A40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FE75D-A186-EABE-9890-AF55B85D41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E7FA0-DCA1-2AB2-38C5-C7EA33429F0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BDC2213-2984-F844-91E5-D9AF0162D616}" type="slidenum">
              <a:t>84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32A73-589A-E2CB-5085-45597DB3438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8CBF7-5903-AFE1-748F-DF04E04FB3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AB251-3D16-021F-B95D-606632BDCB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C5AAC56-1B90-AB40-B339-F5D19A374454}" type="slidenum">
              <a:t>85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8436C-DDED-867E-1142-561D5D7D7D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EBAFD-5C86-3BBB-2E38-47E8098E4C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3975B-278C-C92E-C77A-BA89782C26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AEC9F734-E50D-4943-B2F0-B99355D89F1F}" type="slidenum">
              <a:t>86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F4F84-251A-0358-30F5-0028E895BD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7EE93-2F18-4D70-6824-894EE0D072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F64E0-4C59-B94E-979B-BFE1E4F7BB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C818072-5519-2741-BBD7-509B12B10A32}" type="slidenum">
              <a:t>87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CB039-468D-D739-6EF3-2D2D2E0219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0D5F4-95F6-B9FD-DFCB-D8BDE605CF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4B749-74A4-139A-0214-294DA1CA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E95BA-E3F9-C939-227B-FD72E5B648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88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D4C3F-9994-0C81-D697-340F19E72CA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3AC4E-ACCE-C8D3-1327-5F5A0BC081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8535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F3B73-2756-3D70-A645-157DDB76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E85E4-5427-2368-CFF7-228EC6807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73712-6144-4B56-7658-5670F63E5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inside ebx?</a:t>
            </a:r>
          </a:p>
          <a:p>
            <a:r>
              <a:rPr lang="en-US"/>
              <a:t>https://www.polleverywhere.com/multiple_choice_polls/lrCccnGm68FB3B7E5O6Sj?state=opened&amp;flow=Default&amp;onscreen=persist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88370-A305-500C-5431-6A635C544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BE166643-42AB-A447-817D-435E25A5F279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6777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0ED1D-B804-B8F1-6DB7-6CE72D85D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4C37F-EB88-F8AD-A4CD-976F59466D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90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EA9FC-B268-A86A-56C2-624D6C3ABD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5B1E7-7E70-B76E-D33E-F3A13B6C22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5903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170B-409B-45D8-046F-9B7080CC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67E92-143C-5176-C72A-27DB48BC2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FB96C-3E27-80F1-F062-1732724BF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this instruciton mov ebx, [eax] doing?</a:t>
            </a:r>
          </a:p>
          <a:p>
            <a:r>
              <a:rPr lang="en-US"/>
              <a:t>https://www.polleverywhere.com/multiple_choice_polls/Nu5xKXhHLrsm0NopeA8pm?state=opened&amp;flow=Default&amp;onscreen=persist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9CF48-EE0D-4567-3040-B4EB4D83B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BE166643-42AB-A447-817D-435E25A5F279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2912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CDF2-F07B-4566-182E-21B1B1D5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9C27E-18A7-8235-4351-C80A5179779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92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130E4-89B7-8456-5E82-0BFCEEB12D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0E0F5-8AA3-F71B-87A6-FD834D634A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7561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9E8C-A41C-3AB0-5F0E-A66A8A16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2F6C2-6467-7843-25BE-3D2ED0F52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434EA-48D6-FBA0-D47E-D2D86D61E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Is this a legal x86 instruction? mov [eax], [ebx]</a:t>
            </a:r>
          </a:p>
          <a:p>
            <a:r>
              <a:rPr lang="en-US"/>
              <a:t>https://www.polleverywhere.com/multiple_choice_polls/kDWvtqhRVLbMKc48fwMVg?state=opened&amp;flow=Default&amp;onscreen=persist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DFED1-2346-E96F-628A-80FF6CCBE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BE166643-42AB-A447-817D-435E25A5F279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0903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DC3AB-A14D-7C41-B042-E9DFFC1841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29190FF-AE14-1843-A10A-2153921AE1DD}" type="slidenum">
              <a:t>94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25A2C-CA39-5EF1-E122-E5E797EBF4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03751-86C6-5A6A-E04A-35B803E46A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39E15-5AE1-CF56-104E-678251CACE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7968B7A-83CA-6446-8DC2-C9F0738C6F2A}" type="slidenum">
              <a:t>95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A5FF9-9675-999F-A654-FA872DB469A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026CC-DB25-A051-C510-67A5411F0E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2E626-306D-D81B-36FA-50AB9B4F0E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8A13831-81B1-1A45-94E9-B0BA4DFD727B}" type="slidenum">
              <a:t>96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54B8B-21C9-89DA-9E5D-CE370E477C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FC141-34E8-B24B-8BD1-2DAB8C0190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631FC-6480-67DE-D9D8-99E2358066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A58D851-C362-864B-9415-B9BCF2360863}" type="slidenum">
              <a:t>97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8EFB9-C090-B1FE-A4D3-AB6E47DC0D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0D97A-6DD0-8318-B5EB-4F560AA2DE7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C7912-E944-2591-14F9-1237D9FE1C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5308C66-B0BE-9847-8FD1-86CB5E918AEE}" type="slidenum">
              <a:t>98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76C95-E42F-70C9-7973-1FDA6E72AD4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153B8-59AD-764C-581C-618F83B723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8BCC0-24AA-6026-2506-37D4C91A41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14E1FA6-D93C-354B-903C-72F560D61ED8}" type="slidenum">
              <a:t>99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DC4D5-7278-8B80-A9FD-6784E1127B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F801F-C17C-1D65-78E2-578124BBB7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4A5D3-FC4E-13D7-64DE-BE4CBCE50E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9AA812B-BD45-E04D-8281-75E6FCAFF195}" type="slidenum">
              <a:t>100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991E4-2C32-539C-6DF4-376DF747D1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27245-777A-58EC-5BB6-8088DBBC09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F630A-8AD8-4F98-108F-026E2FF17D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BE26A1E-7063-2E4E-AD69-CFAA62D7E303}" type="slidenum">
              <a:t>101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1CD85-7DD9-6F1F-D115-67FC86BE4E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FC32E-BD90-BA61-89A7-FE0FD21277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67C36-2205-A663-DB68-D9AE8BB97C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7FC12B9-7FFD-544C-90D3-9BE38B2A3A7A}" type="slidenum">
              <a:t>102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152A8-6497-E1AD-B332-9C4715ED93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6C3AB-2AF9-F696-E80A-929F7D0A1D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C4D00-0E9A-9670-F092-3CC8EDA6E6A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B046654-BFA5-5846-862C-4504817ECCB2}" type="slidenum">
              <a:t>103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97ED3-8F58-44F3-62DD-8269472935E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F8432-BE09-A790-8F8F-345FF1DC0C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8E86-F16F-3ED4-FE94-4581B80F37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2FB0490-00D9-1F4E-8B84-29A6667D6C8D}" type="slidenum">
              <a:t>104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85EC8-5E96-B50C-C8AE-DCAE0663A5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6B973-FA95-9F40-9962-3D6784362E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65678-8D92-852A-AA08-A9297470ED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50E47899-9065-714F-81F8-883E46054218}" type="slidenum">
              <a:t>105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C2A87-AED5-E839-B434-3B75C715872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78B36-65F2-1472-8CB4-535532102E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97812-A02A-763A-96DA-0A3F58CFD9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0E7AEC8-C7BE-564C-91E8-A2474FC0D02D}" type="slidenum">
              <a:t>106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89F69-061A-ECE0-A5CD-95D8BFD4A1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69D78-9AD9-0371-1835-4D5E44B6C6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A19F-3B46-D8AC-1CAA-F7CAC47E5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D5379-5EE5-483F-B65B-5197CB7EE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262F-0F38-DCF9-27FF-245D3E38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8F41-0078-A8BB-01CB-2A635C31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967C7-4006-ACE8-708F-4F2E62D6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46A6103-A09C-B84B-8006-971AD8E982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9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360C-462F-2402-7ED2-688AA23E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9F8AB-46A0-5C75-800B-C100B7ABF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ACDF8-12C6-F37D-3596-8741B7E7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478EB-A819-91CB-1C8F-80B91C6B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0402E-6D52-38E6-846A-0E174B56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356CB9-BECB-1F42-A527-157DBB0729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9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1317-7233-A14E-6B1A-11F3AB8D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4CB9F-A2A5-74DA-DCF4-510AEE78F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32B93-3470-AE4E-220F-27EB8C96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95C0E-4CB0-39D5-7598-015409BD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8ACDB-8691-7B24-E0AB-2753224D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4466C1-B967-6F4A-A901-91EF2796C7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88AB-18BE-AB0A-0A3D-B475F61C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9AB48-0426-632A-2A81-D489A6170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B96F8-FE3B-C92A-E681-C3ED94E5A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06B6F-C7C3-330A-C4A7-8840CC55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A672E-9776-0571-0232-15A8203F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601C5-5588-B913-66EF-48075C83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FBEF53-FC0D-1F4B-9DD3-E1A767663A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6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DF34-E46D-B201-C30F-57C4A65B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CE2E6-8D62-D520-FCED-FAFED7015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95AEC-7A43-134E-7C51-23CB8E65E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18AE26-215E-F975-88BD-711E2E925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DAECA1-9518-49A5-ACE4-4C352472F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91983-E424-5652-840A-7217DF81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4506D-74CE-119E-471E-0A5D3696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67615-D773-3C2D-0966-4F7ABC47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F698EB-9EC0-EE4F-A470-ACA39AE06E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7B48-5305-2174-A537-17B5F452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5E4C7-C55E-6989-AE2E-079502A4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879DC-D88A-8DD8-C68C-2DFAB399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9DED4-1291-1BE5-67FF-135100A5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F52258-1D5B-1A44-9D55-5528273174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1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A173D-7F5A-A2A5-E0F2-562DAEE1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59AE0-0391-97C5-0AEC-3011A73D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80500-45BD-4A6C-6EB3-216AA30D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A28AC1-8A5E-6044-9350-E673F8C440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147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6FBB-0EB6-0634-CC1C-A8186A9A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6529-6A02-CCBA-0D88-DA222B95D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5AAA9-6886-608E-8E3C-B4A47D3F4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0E71F-A8C1-8796-737F-748F6E1B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BD5CF-48C4-E9EE-B99F-F84187935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5FCCE-0F43-8D72-19D3-2F57E97B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3ED509-47BC-FD42-B2B3-4C58E6CFA5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FB2F-7741-D064-9ED4-506D3B85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9FD7D-9AA9-2B7F-ADAF-57513A181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9A582-6056-56E6-73FB-2E66768C4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1008C-69EF-DA45-CD89-2D1ADC85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E5A9E-C03B-70DF-E5C9-221A389C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B9C7C-0828-CB81-422B-EB577713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71312C-4DCF-5942-A634-1B4509C78E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8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3772-A5BC-93C8-136C-D8BDCE45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3E72F-939E-A4A1-CE9D-1B2C95246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C246-F3DD-59BE-1431-EDFD746C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85C23-9E2B-A909-F739-58E59E08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F6A44-BF47-170B-5D95-09650516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0A8B1C-C3B9-004C-B98B-716540C671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3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CCD25-C2B8-2C6E-6B91-1948270C5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9065D-8B25-0DF7-724B-9ED2A0857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73B48-4A39-F660-74A7-002A6ECF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8D36-B258-3351-6DDA-521EA8A7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66009-EA79-1F0F-A415-42710BA9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1C11D9F-8936-214E-BFC2-0E0D9FB20E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7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571D0F-CF13-F079-EAE5-5A2DCC4FEB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53B00-ECA5-A2C6-C423-8B018945C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759E8-6036-A69B-CCCE-3F380200935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0B79F-5CF2-C277-78F2-1CD3B4B6809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algn="ct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9F28F-678C-8537-C4F1-0E9BE61C141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algn="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019EDD07-8B4C-0A44-A97D-495BAAAB881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>
          <a:ln>
            <a:noFill/>
          </a:ln>
          <a:latin typeface="Liberation Sans" pitchFamily="18"/>
        </a:defRPr>
      </a:lvl1pPr>
    </p:titleStyle>
    <p:bodyStyle>
      <a:lvl1pPr marL="0" marR="0" indent="0" hangingPunct="0">
        <a:spcBef>
          <a:spcPts val="0"/>
        </a:spcBef>
        <a:spcAft>
          <a:spcPts val="1414"/>
        </a:spcAft>
        <a:tabLst/>
        <a:defRPr lang="en-US" sz="3200" b="0" i="0" u="none" strike="noStrike" kern="1200">
          <a:ln>
            <a:noFill/>
          </a:ln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virginia.edu/~evans/cs216/guides/x86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lint.cs.yale.edu/cs421/papers/x86-asm/asm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X86#x86_register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E3B3-80FD-CCD0-A840-185AEA309C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690480"/>
            <a:ext cx="9071640" cy="3881520"/>
          </a:xfrm>
        </p:spPr>
        <p:txBody>
          <a:bodyPr>
            <a:spAutoFit/>
          </a:bodyPr>
          <a:lstStyle/>
          <a:p>
            <a:pPr lvl="0"/>
            <a:r>
              <a:rPr lang="en-US" dirty="0"/>
              <a:t>cs5460/6460 Operating Systems</a:t>
            </a:r>
            <a:br>
              <a:rPr lang="en-US" dirty="0"/>
            </a:br>
            <a:r>
              <a:rPr lang="en-US" dirty="0"/>
              <a:t>Lecture 03: x86 instruction 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EADB1-496A-9D00-8E3E-D89CD2F7AEB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475401"/>
            <a:ext cx="9071640" cy="3693319"/>
          </a:xfrm>
        </p:spPr>
        <p:txBody>
          <a:bodyPr anchor="ctr">
            <a:spAutoFit/>
          </a:bodyPr>
          <a:lstStyle/>
          <a:p>
            <a:pPr lvl="0" algn="ctr"/>
            <a:endParaRPr lang="en-US" dirty="0"/>
          </a:p>
          <a:p>
            <a:pPr lvl="0" algn="ctr"/>
            <a:endParaRPr lang="en-US" sz="1400" dirty="0"/>
          </a:p>
          <a:p>
            <a:pPr lvl="0" algn="ctr"/>
            <a:endParaRPr lang="en-US" sz="2600" dirty="0"/>
          </a:p>
          <a:p>
            <a:pPr lvl="0" algn="ctr"/>
            <a:endParaRPr lang="en-US" sz="2000" dirty="0"/>
          </a:p>
          <a:p>
            <a:pPr lvl="0" algn="ctr"/>
            <a:r>
              <a:rPr lang="en-US" sz="2600" dirty="0"/>
              <a:t>Anton Burtsev</a:t>
            </a:r>
          </a:p>
          <a:p>
            <a:pPr lvl="0" algn="ctr"/>
            <a:r>
              <a:rPr lang="en-US" sz="2600" dirty="0"/>
              <a:t>January, 2026</a:t>
            </a:r>
          </a:p>
          <a:p>
            <a:pPr lvl="0" algn="ctr"/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780BC7E-86CF-0AC1-EF95-DBDD7FC0BC0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CPUs work internally?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A68B-0D97-80D6-0B3E-922E379C03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57800" y="338040"/>
            <a:ext cx="4343400" cy="1262160"/>
          </a:xfrm>
        </p:spPr>
        <p:txBody>
          <a:bodyPr/>
          <a:lstStyle/>
          <a:p>
            <a:pPr lvl="0"/>
            <a:r>
              <a:rPr lang="en-US" dirty="0"/>
              <a:t>CPU execution loop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3EAB2-2E1E-A88E-1C52-73F6DE08F3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29200" y="1769040"/>
            <a:ext cx="4546440" cy="4384440"/>
          </a:xfrm>
        </p:spPr>
        <p:txBody>
          <a:bodyPr>
            <a:norm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CPU repeatedly reads instructions from memory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Executes them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lvl="0"/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>
                <a:solidFill>
                  <a:srgbClr val="0000FF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Arial" panose="020B0604020202020204" pitchFamily="34" charset="0"/>
              </a:rPr>
              <a:t>ADD RDX, RAX</a:t>
            </a:r>
          </a:p>
          <a:p>
            <a:pPr lvl="0"/>
            <a:r>
              <a:rPr lang="en-US" sz="2800" dirty="0">
                <a:solidFill>
                  <a:srgbClr val="006600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Arial" panose="020B0604020202020204" pitchFamily="34" charset="0"/>
              </a:rPr>
              <a:t> // RDX = RAX + RDX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C4678-E161-CBE0-3F2E-2F7FC6793B5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0"/>
            <a:ext cx="4518000" cy="755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C9702F-93A6-DF18-4232-48D3894F0F9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0"/>
            <a:ext cx="4518000" cy="75596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5EC80D8A-697D-8BB1-2F87-1ECC8EE4F998}"/>
              </a:ext>
            </a:extLst>
          </p:cNvPr>
          <p:cNvSpPr/>
          <p:nvPr/>
        </p:nvSpPr>
        <p:spPr>
          <a:xfrm>
            <a:off x="558000" y="95400"/>
            <a:ext cx="2340360" cy="1047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C6C0F62-96C1-25CC-3D20-E2EF00BD6C18}"/>
              </a:ext>
            </a:extLst>
          </p:cNvPr>
          <p:cNvSpPr/>
          <p:nvPr/>
        </p:nvSpPr>
        <p:spPr>
          <a:xfrm>
            <a:off x="565200" y="1143000"/>
            <a:ext cx="3549600" cy="685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0772AD9-7A47-60A9-59BD-20C6D92FEB4B}"/>
              </a:ext>
            </a:extLst>
          </p:cNvPr>
          <p:cNvSpPr/>
          <p:nvPr/>
        </p:nvSpPr>
        <p:spPr>
          <a:xfrm>
            <a:off x="565200" y="1827000"/>
            <a:ext cx="3549600" cy="685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8C0D45F-189C-4219-0EB0-6C1FE0EC04AF}"/>
              </a:ext>
            </a:extLst>
          </p:cNvPr>
          <p:cNvSpPr/>
          <p:nvPr/>
        </p:nvSpPr>
        <p:spPr>
          <a:xfrm>
            <a:off x="565200" y="2439000"/>
            <a:ext cx="3549600" cy="685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9CD5D47-82C5-9DF9-7A7D-4B1236C1EB55}"/>
              </a:ext>
            </a:extLst>
          </p:cNvPr>
          <p:cNvSpPr/>
          <p:nvPr/>
        </p:nvSpPr>
        <p:spPr>
          <a:xfrm>
            <a:off x="565200" y="3051000"/>
            <a:ext cx="3549600" cy="685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1551AD6-DEC6-5D08-9F4B-AB1B88284E85}"/>
              </a:ext>
            </a:extLst>
          </p:cNvPr>
          <p:cNvSpPr/>
          <p:nvPr/>
        </p:nvSpPr>
        <p:spPr>
          <a:xfrm>
            <a:off x="558000" y="3623400"/>
            <a:ext cx="2413800" cy="1047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B7FC651-7F30-FF33-7E4F-993BEC711BDE}"/>
              </a:ext>
            </a:extLst>
          </p:cNvPr>
          <p:cNvSpPr/>
          <p:nvPr/>
        </p:nvSpPr>
        <p:spPr>
          <a:xfrm>
            <a:off x="558000" y="4626360"/>
            <a:ext cx="2413800" cy="9446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5EBFC55-F592-1F95-BAB3-4324F78D486F}"/>
              </a:ext>
            </a:extLst>
          </p:cNvPr>
          <p:cNvSpPr/>
          <p:nvPr/>
        </p:nvSpPr>
        <p:spPr>
          <a:xfrm>
            <a:off x="558000" y="5562360"/>
            <a:ext cx="2413800" cy="19814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pic>
        <p:nvPicPr>
          <p:cNvPr id="11" name="Picture 234">
            <a:extLst>
              <a:ext uri="{FF2B5EF4-FFF2-40B4-BE49-F238E27FC236}">
                <a16:creationId xmlns:a16="http://schemas.microsoft.com/office/drawing/2014/main" id="{3EC7534F-B2BD-9891-3F97-0C6605295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280" y="49356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235">
            <a:extLst>
              <a:ext uri="{FF2B5EF4-FFF2-40B4-BE49-F238E27FC236}">
                <a16:creationId xmlns:a16="http://schemas.microsoft.com/office/drawing/2014/main" id="{A1552FD4-B1B0-2CCC-2082-A3CA741F02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480" y="1652400"/>
            <a:ext cx="804240" cy="135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BD4E20-FA05-893F-B8EC-7D746A333F7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172200" y="1636200"/>
            <a:ext cx="804240" cy="94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4E479181-EE76-8E7F-7A49-66062E672BB4}"/>
              </a:ext>
            </a:extLst>
          </p:cNvPr>
          <p:cNvSpPr txBox="1">
            <a:spLocks/>
          </p:cNvSpPr>
          <p:nvPr/>
        </p:nvSpPr>
        <p:spPr>
          <a:xfrm>
            <a:off x="504492" y="1085091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 fontScale="85000" lnSpcReduction="20000"/>
          </a:bodyPr>
          <a:lstStyle>
            <a:lvl1pPr marL="0" marR="0" indent="0" hangingPunct="0">
              <a:spcBef>
                <a:spcPts val="0"/>
              </a:spcBef>
              <a:spcAft>
                <a:spcPts val="1414"/>
              </a:spcAft>
              <a:tabLst/>
              <a:defRPr lang="en-US" sz="32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those instructions?</a:t>
            </a:r>
          </a:p>
          <a:p>
            <a:pPr algn="ctr"/>
            <a:r>
              <a:rPr lang="en-US" sz="4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 brief introduction to x86 instruction set)</a:t>
            </a:r>
          </a:p>
          <a:p>
            <a:pPr algn="ctr"/>
            <a:endParaRPr lang="en-US" sz="4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 is based on David Evans’ x86 Assembly Guide</a:t>
            </a:r>
          </a:p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http://www.cs.virginia.edu/~evans/cs216/guides/x86.html</a:t>
            </a:r>
          </a:p>
          <a:p>
            <a:pPr algn="ctr"/>
            <a:endParaRPr lang="en-US" sz="24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it’s adaptation for GNU/AT&amp;T </a:t>
            </a:r>
            <a:r>
              <a:rPr lang="en-US" sz="24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asm</a:t>
            </a:r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syntax by the Yale FLINT’s group</a:t>
            </a:r>
          </a:p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https://flint.cs.yale.edu/cs421/papers/x86-asm/asm.html</a:t>
            </a:r>
          </a:p>
          <a:p>
            <a:pPr algn="ctr"/>
            <a:endParaRPr lang="en-US" sz="24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hlinkClick r:id="rId4"/>
            </a:endParaRPr>
          </a:p>
          <a:p>
            <a:pPr algn="ctr"/>
            <a:r>
              <a:rPr lang="en-US" sz="2400" dirty="0"/>
              <a:t>and </a:t>
            </a:r>
            <a:r>
              <a:rPr lang="en-US" sz="2400" i="1" dirty="0"/>
              <a:t>Computer Systems: A Programmer's Perspective</a:t>
            </a:r>
            <a:r>
              <a:rPr lang="en-US" sz="2400" dirty="0"/>
              <a:t> by Randal E. Bryant &amp; David R. </a:t>
            </a:r>
            <a:r>
              <a:rPr lang="en-US" sz="2400" dirty="0" err="1"/>
              <a:t>O'Hallaron</a:t>
            </a:r>
            <a:r>
              <a:rPr lang="en-US" sz="2400" dirty="0"/>
              <a:t> (CS:APP)</a:t>
            </a:r>
            <a:endParaRPr lang="en-US" sz="4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8E11-21AF-B41C-2306-BE065DD63C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32F1B-02C2-2880-3B63-DA7E52519AF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We’ll be talking about </a:t>
            </a:r>
            <a:r>
              <a:rPr lang="en-US" dirty="0">
                <a:solidFill>
                  <a:srgbClr val="1B75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64bit x86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instruction set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version of xv6 we will be using in this class is a 64bit operating system</a:t>
            </a: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FE01-31FE-8258-84C7-36D6DACFA6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x86 instruction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12514-6F75-4822-C363-86A0188D932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full x86 instruction set is large and complex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But don’t worry, the core part is simple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rest are various extensions (often you can guess what they do, or quickly look it up in the manual)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A4DAB-3FCA-088E-8F04-F8FEF6DE56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x86 instruction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FC2F7-0971-36EC-6633-3E9234AB37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Three main groups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movement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(from memory and between registers)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operations (addition, subtraction, etc.)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flow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(jumps, function calls)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AC8C624-6FD3-F9CE-0597-89C09C4A0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3425"/>
            <a:ext cx="1008062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220EA0-F1E1-4317-9CF4-2DFE2F0D4F1F}"/>
              </a:ext>
            </a:extLst>
          </p:cNvPr>
          <p:cNvSpPr txBox="1">
            <a:spLocks/>
          </p:cNvSpPr>
          <p:nvPr/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hangingPunct="0">
              <a:tabLst/>
              <a:defRPr lang="en-US" sz="4400" b="0" i="0" u="none" strike="noStrike" kern="1200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dirty="0">
                <a:solidFill>
                  <a:sysClr val="windowText" lastClr="000000"/>
                </a:solidFill>
              </a:rPr>
              <a:t>x86 registers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003DB-59B5-DDF6-9270-DCF0D23E0A02}"/>
              </a:ext>
            </a:extLst>
          </p:cNvPr>
          <p:cNvSpPr txBox="1"/>
          <p:nvPr/>
        </p:nvSpPr>
        <p:spPr>
          <a:xfrm>
            <a:off x="403964" y="6980221"/>
            <a:ext cx="5041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https://en.wikipedia.org/wiki/X86#x86_registers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1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CFA4-E713-09BD-8B57-AF1697C1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29B8-6C95-5F05-359C-27F639FEC321}"/>
              </a:ext>
            </a:extLst>
          </p:cNvPr>
          <p:cNvSpPr txBox="1">
            <a:spLocks/>
          </p:cNvSpPr>
          <p:nvPr/>
        </p:nvSpPr>
        <p:spPr>
          <a:xfrm>
            <a:off x="6325643" y="301320"/>
            <a:ext cx="3249995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hangingPunct="0">
              <a:tabLst/>
              <a:defRPr lang="en-US" sz="4400" b="0" i="0" u="none" strike="noStrike" kern="1200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dirty="0">
                <a:solidFill>
                  <a:sysClr val="windowText" lastClr="000000"/>
                </a:solidFill>
              </a:rPr>
              <a:t>x86 registers</a:t>
            </a:r>
          </a:p>
        </p:txBody>
      </p:sp>
      <p:pic>
        <p:nvPicPr>
          <p:cNvPr id="3074" name="Picture 2" descr="csapp-fig3.2">
            <a:extLst>
              <a:ext uri="{FF2B5EF4-FFF2-40B4-BE49-F238E27FC236}">
                <a16:creationId xmlns:a16="http://schemas.microsoft.com/office/drawing/2014/main" id="{9B82A4E3-4D59-AD00-1B9D-EABB11CD0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186488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665309-CE87-1E83-298A-A4DA1A440BC6}"/>
              </a:ext>
            </a:extLst>
          </p:cNvPr>
          <p:cNvSpPr txBox="1"/>
          <p:nvPr/>
        </p:nvSpPr>
        <p:spPr>
          <a:xfrm>
            <a:off x="6579804" y="7073689"/>
            <a:ext cx="3249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Source: CS:APP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1DC90B-E73F-90C3-E1C7-32E75AAB742B}"/>
              </a:ext>
            </a:extLst>
          </p:cNvPr>
          <p:cNvSpPr txBox="1">
            <a:spLocks/>
          </p:cNvSpPr>
          <p:nvPr/>
        </p:nvSpPr>
        <p:spPr>
          <a:xfrm>
            <a:off x="6400800" y="1770063"/>
            <a:ext cx="3175000" cy="43830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70000" lnSpcReduction="20000"/>
          </a:bodyPr>
          <a:lstStyle>
            <a:lvl1pPr marL="0" marR="0" indent="0" hangingPunct="0">
              <a:spcBef>
                <a:spcPts val="0"/>
              </a:spcBef>
              <a:spcAft>
                <a:spcPts val="1414"/>
              </a:spcAft>
              <a:tabLst/>
              <a:defRPr lang="en-US" sz="32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  <a:latin typeface="Arial"/>
              </a:rPr>
              <a:t>16 general registers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  <a:latin typeface="Arial"/>
              </a:rPr>
              <a:t>64 bits each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  <a:latin typeface="Arial"/>
              </a:rPr>
              <a:t>Two (</a:t>
            </a:r>
            <a:r>
              <a:rPr lang="en-US">
                <a:solidFill>
                  <a:srgbClr val="0070C0"/>
                </a:solidFill>
                <a:latin typeface="Arial"/>
              </a:rPr>
              <a:t>RSP</a:t>
            </a:r>
            <a:r>
              <a:rPr lang="en-US">
                <a:solidFill>
                  <a:sysClr val="windowText" lastClr="000000"/>
                </a:solidFill>
                <a:latin typeface="Arial"/>
              </a:rPr>
              <a:t> and </a:t>
            </a:r>
            <a:r>
              <a:rPr lang="en-US">
                <a:solidFill>
                  <a:srgbClr val="0070C0"/>
                </a:solidFill>
                <a:latin typeface="Arial"/>
              </a:rPr>
              <a:t>RBP</a:t>
            </a:r>
            <a:r>
              <a:rPr lang="en-US">
                <a:solidFill>
                  <a:sysClr val="windowText" lastClr="000000"/>
                </a:solidFill>
                <a:latin typeface="Arial"/>
              </a:rPr>
              <a:t>) have a special role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  <a:latin typeface="Arial"/>
              </a:rPr>
              <a:t>Others are more or less general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  <a:latin typeface="Arial"/>
              </a:rPr>
              <a:t>Includes extra registers R8–R15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  <a:latin typeface="Arial"/>
              </a:rPr>
              <a:t>Used in arithmetic instructions, control flow decisions, passing arguments to functions, etc.</a:t>
            </a:r>
            <a:endParaRPr lang="en-US" dirty="0">
              <a:solidFill>
                <a:sysClr val="windowText" lastClr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685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E56F-EF3A-5DAC-012F-C441949999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BTW, where are these registers?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5FC94-4F7B-48AE-2551-B455E741AAF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870C-3C13-5429-10EE-C52DC90655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Registers and Memory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0176CA-D329-B609-C216-D98FFE8FE6D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52760" y="2057400"/>
            <a:ext cx="7019640" cy="1876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36D32F-363A-A7D8-0F11-3F4489AF112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14400" y="4478040"/>
            <a:ext cx="2813760" cy="215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4B8C8D-4F98-902E-DAF5-A1E49D5B64A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574160" y="4317480"/>
            <a:ext cx="4798440" cy="299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9CEF13E-3631-BB15-913B-7C88EE6CB4D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/>
              <a:t>Global (static) variables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1645-E4BD-F2E3-A188-CEE25E58C6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Declaring static data regions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60948-5AB6-FAC9-3F79-D728995CE7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40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3600" dirty="0">
                <a:latin typeface="Liberation Sans" pitchFamily="34"/>
              </a:rPr>
              <a:t>Data declarations are preceded by the .DATA directive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3600" dirty="0">
                <a:latin typeface="Liberation Sans" pitchFamily="34"/>
              </a:rPr>
              <a:t>DB (declare byte)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3600" dirty="0">
                <a:latin typeface="Liberation Sans" pitchFamily="34"/>
              </a:rPr>
              <a:t>DW (declare two byte location aka word)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3600" dirty="0">
                <a:latin typeface="Liberation Sans" pitchFamily="34"/>
              </a:rPr>
              <a:t>DD (declare four byte </a:t>
            </a:r>
            <a:r>
              <a:rPr lang="en-US" sz="3600" dirty="0" err="1">
                <a:latin typeface="Liberation Sans" pitchFamily="34"/>
              </a:rPr>
              <a:t>locattion</a:t>
            </a:r>
            <a:r>
              <a:rPr lang="en-US" sz="3600" dirty="0">
                <a:latin typeface="Liberation Sans" pitchFamily="34"/>
              </a:rPr>
              <a:t> aka double word)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		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	DB 64   	; Declare a byte, referred to as location var,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; containing the value 64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var2 	DB ? 	; Declare an uninitialized byte,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; referred to as location var2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 10    	 ; Declare a byte with no label, containing the value 10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; Its location is var2 + 1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	DW ? 	    ; Declare a 2-byte uninitialized value, location X</a:t>
            </a:r>
          </a:p>
          <a:p>
            <a:pPr lvl="0"/>
            <a:r>
              <a:rPr lang="en-US" sz="3800" dirty="0">
                <a:solidFill>
                  <a:srgbClr val="94476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	DD 30000   ; Declare a 4-byte value, location Y, initialized to 30000</a:t>
            </a:r>
          </a:p>
          <a:p>
            <a:pPr lvl="0"/>
            <a:endParaRPr lang="en-US" sz="3800" dirty="0">
              <a:solidFill>
                <a:srgbClr val="94476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806E-16D8-5E71-A436-05EC0F511D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Arrays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38998-089D-1058-B088-0A5C65ACB8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6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3600">
                <a:latin typeface="Liberation Sans" pitchFamily="34"/>
              </a:rPr>
              <a:t>Simply a number of cells in memory</a:t>
            </a:r>
          </a:p>
          <a:p>
            <a:pPr lvl="0"/>
            <a:r>
              <a:rPr lang="en-US" sz="3600">
                <a:solidFill>
                  <a:srgbClr val="94476B"/>
                </a:solidFill>
                <a:latin typeface="LMMono10" pitchFamily="17"/>
              </a:rPr>
              <a:t>Z 	DD 1, 2, 3 	; Declare three 4-byte values, initialized to</a:t>
            </a:r>
          </a:p>
          <a:p>
            <a:pPr lvl="0"/>
            <a:r>
              <a:rPr lang="en-US" sz="3600">
                <a:solidFill>
                  <a:srgbClr val="94476B"/>
                </a:solidFill>
                <a:latin typeface="LMMono10" pitchFamily="17"/>
              </a:rPr>
              <a:t>               ; 1, 2, and 3. The value of location Z + 8 is 3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3600">
                <a:latin typeface="Liberation Sans" pitchFamily="34"/>
              </a:rPr>
              <a:t>DUP – duplicate expression a given number of times</a:t>
            </a:r>
          </a:p>
          <a:p>
            <a:pPr lvl="0"/>
            <a:r>
              <a:rPr lang="en-US">
                <a:solidFill>
                  <a:srgbClr val="94476B"/>
                </a:solidFill>
                <a:latin typeface="LMMono10" pitchFamily="17"/>
              </a:rPr>
              <a:t>bytes   	DB 10 DUP(?) 	; Declare 10 uninitialized bytes starting at</a:t>
            </a:r>
          </a:p>
          <a:p>
            <a:pPr lvl="0"/>
            <a:r>
              <a:rPr lang="en-US">
                <a:solidFill>
                  <a:srgbClr val="94476B"/>
                </a:solidFill>
                <a:latin typeface="LMMono10" pitchFamily="17"/>
              </a:rPr>
              <a:t>                        ; location bytes</a:t>
            </a:r>
          </a:p>
          <a:p>
            <a:pPr lvl="0"/>
            <a:r>
              <a:rPr lang="en-US">
                <a:solidFill>
                  <a:srgbClr val="94476B"/>
                </a:solidFill>
                <a:latin typeface="LMMono10" pitchFamily="17"/>
              </a:rPr>
              <a:t>arr 	DD 100 DUP(0)     	; Declare 100 4-byte words starting at location</a:t>
            </a:r>
          </a:p>
          <a:p>
            <a:pPr lvl="0"/>
            <a:r>
              <a:rPr lang="en-US">
                <a:solidFill>
                  <a:srgbClr val="94476B"/>
                </a:solidFill>
                <a:latin typeface="LMMono10" pitchFamily="17"/>
              </a:rPr>
              <a:t>                        ; arr, all initialized to 0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3600">
                <a:latin typeface="Liberation Sans" pitchFamily="34"/>
              </a:rPr>
              <a:t>String literals</a:t>
            </a:r>
          </a:p>
          <a:p>
            <a:pPr lvl="0"/>
            <a:r>
              <a:rPr lang="en-US">
                <a:solidFill>
                  <a:srgbClr val="94476B"/>
                </a:solidFill>
                <a:latin typeface="LMMono10" pitchFamily="17"/>
              </a:rPr>
              <a:t>str 	DB 'hello',0 	     ; Declare 6 bytes starting at the address str,</a:t>
            </a:r>
          </a:p>
          <a:p>
            <a:pPr lvl="0"/>
            <a:r>
              <a:rPr lang="en-US">
                <a:solidFill>
                  <a:srgbClr val="94476B"/>
                </a:solidFill>
                <a:latin typeface="LMMono10" pitchFamily="17"/>
              </a:rPr>
              <a:t>                        ; initialized to the ASCII character values for</a:t>
            </a:r>
          </a:p>
          <a:p>
            <a:pPr lvl="0"/>
            <a:r>
              <a:rPr lang="en-US">
                <a:solidFill>
                  <a:srgbClr val="94476B"/>
                </a:solidFill>
                <a:latin typeface="LMMono10" pitchFamily="17"/>
              </a:rPr>
              <a:t>                        ; hello and the null (0) byte</a:t>
            </a:r>
          </a:p>
          <a:p>
            <a:pPr lvl="0"/>
            <a:endParaRPr lang="en-US">
              <a:solidFill>
                <a:srgbClr val="94476B"/>
              </a:solidFill>
              <a:latin typeface="LMMono10" pitchFamily="1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DAA8E36-A04F-93AF-BA82-E46AFB1B829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/>
              <a:t>Data movement instructions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DAD6-8400-644A-C1BC-648EE46884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We use the following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EB54A-C02E-DF73-7679-E396385C27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3774" y="1415143"/>
            <a:ext cx="9281339" cy="5671457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&lt;reg64&gt;  Any 64-bit register (RAX..R15)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&lt;reg32&gt;  Any 32-bit register (EAX..R15D)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&lt;reg16&gt;  Any 16-bit register (AX..R15W)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&lt;reg8&gt;   Any 8-bit register (AL..R15B)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&lt;reg&gt;    Any register</a:t>
            </a:r>
          </a:p>
          <a:p>
            <a:endParaRPr dirty="0">
              <a:solidFill>
                <a:srgbClr val="94476B"/>
              </a:solidFill>
              <a:latin typeface="FiraMono Nerd Font"/>
            </a:endParaRP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&lt;mem&gt;    A memory address (e.g., [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rax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], [var + 8],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          or qword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ptr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[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rax+rbx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])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&lt;con64&gt;  Any 64-bit constant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&lt;con32&gt;  Any 32-bit constant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&lt;con16&gt;  Any 16-bit constant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&lt;con8&gt;   Any 8-bit constant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&lt;con&gt;    Any 8-, 16-, 32-, or 64-bit constant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1C08-5AE3-A4A1-CDC1-8D1F801961C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mov</a:t>
            </a:r>
            <a:r>
              <a:rPr lang="en-US" dirty="0"/>
              <a:t> </a:t>
            </a:r>
            <a:r>
              <a:rPr lang="en-US" dirty="0" err="1"/>
              <a:t>instruciton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95A42-7258-96EE-7B97-F1A112D974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77500" lnSpcReduction="20000"/>
          </a:bodyPr>
          <a:lstStyle/>
          <a:p>
            <a:pPr marL="457200" lvl="0" indent="-457200">
              <a:buSzPct val="45000"/>
              <a:buFont typeface="StarSymbol"/>
              <a:buChar char="●"/>
            </a:pPr>
            <a:r>
              <a:rPr lang="en-US" dirty="0">
                <a:latin typeface="Liberation Sans" pitchFamily="34"/>
              </a:rPr>
              <a:t>Copies the data item referred to by its second operand (i.e. register contents, memory contents, or a constant value) into the location referred to by its first operand (i.e. a register or memory).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ans" pitchFamily="34"/>
              </a:rPr>
              <a:t>Register-to-register moves are possible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ans" pitchFamily="34"/>
              </a:rPr>
              <a:t>Direct memory-to-memory moves are not</a:t>
            </a:r>
          </a:p>
          <a:p>
            <a:pPr marL="457200" lvl="0" indent="-457200">
              <a:buSzPct val="45000"/>
              <a:buFont typeface="StarSymbol"/>
              <a:buChar char="●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&lt;reg&gt;,&lt;reg&gt;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&lt;reg&gt;,&lt;mem&gt;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&lt;mem&gt;,&lt;reg&gt;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&lt;reg&gt;,&lt;const&gt;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&lt;mem&gt;,&lt;const&gt;</a:t>
            </a:r>
          </a:p>
          <a:p>
            <a:pPr lvl="0"/>
            <a:endParaRPr lang="en-US" dirty="0">
              <a:solidFill>
                <a:srgbClr val="94476B"/>
              </a:solidFill>
              <a:latin typeface="LMMono10" pitchFamily="1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01EC-65B7-7BE8-9072-E07A3252FB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mov</a:t>
            </a:r>
            <a:r>
              <a:rPr lang="en-US"/>
              <a:t>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B80B1-8E49-07DF-1EAC-44FF753CBC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71600"/>
            <a:ext cx="9071640" cy="5715000"/>
          </a:xfrm>
        </p:spPr>
        <p:txBody>
          <a:bodyPr>
            <a:normAutofit fontScale="55000" lnSpcReduction="20000"/>
          </a:bodyPr>
          <a:lstStyle/>
          <a:p>
            <a:endParaRPr/>
          </a:p>
          <a:p>
            <a:r>
              <a:rPr>
                <a:solidFill>
                  <a:srgbClr val="94476B"/>
                </a:solidFill>
                <a:latin typeface="FiraMono Nerd Font"/>
              </a:rPr>
              <a:t>mov rax, rbx          ; copy the value in rbx into rax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mov byte ptr [var], 5 ; store 5 into the byte at location var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mov rax, [rbx] 	  ; Move the 8 bytes in memory at the address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                      ; contained in RBX into RAX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mov [var], rbx 	  ; Move the contents of RBX into the 8 bytes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                      ; at memory address var.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                      ; (Note, var is a label / address constant).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mov rax, [rsi-8] 	  ; Move 8 bytes at memory address RSI + (-8)  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                      ; into RAX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mov [rsi+rax], cl     ; Move the contents of CL into the byte at</a:t>
            </a:r>
          </a:p>
          <a:p>
            <a:r>
              <a:rPr>
                <a:solidFill>
                  <a:srgbClr val="94476B"/>
                </a:solidFill>
                <a:latin typeface="FiraMono Nerd Font"/>
              </a:rPr>
              <a:t>                      ; address RSI+RAX</a:t>
            </a:r>
          </a:p>
          <a:p>
            <a:endParaRPr>
              <a:solidFill>
                <a:srgbClr val="94476B"/>
              </a:solidFill>
              <a:latin typeface="FiraMono Nerd Fon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4492-951A-B2A1-06F9-CB5ADD1851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</a:t>
            </a:r>
            <a:r>
              <a:rPr lang="en-US" dirty="0"/>
              <a:t>: access to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46B35-D50D-C4B4-E35D-401CD7B588F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143000"/>
            <a:ext cx="9071640" cy="5943600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struct point {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     int x;    // x coordinate (</a:t>
            </a:r>
            <a:r>
              <a:rPr lang="en-US" dirty="0">
                <a:solidFill>
                  <a:srgbClr val="94476B"/>
                </a:solidFill>
                <a:latin typeface="FiraMono Nerd Font"/>
              </a:rPr>
              <a:t>4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bytes)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     int y;    // y coordinate (</a:t>
            </a:r>
            <a:r>
              <a:rPr lang="en-US" dirty="0">
                <a:solidFill>
                  <a:srgbClr val="94476B"/>
                </a:solidFill>
                <a:latin typeface="FiraMono Nerd Font"/>
              </a:rPr>
              <a:t>4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bytes)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}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struct point points[128]; // array of 128 points</a:t>
            </a:r>
          </a:p>
          <a:p>
            <a:endParaRPr dirty="0">
              <a:solidFill>
                <a:srgbClr val="94476B"/>
              </a:solidFill>
              <a:latin typeface="FiraMono Nerd Font"/>
            </a:endParaRP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// load y coordinate of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i-th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point into y</a:t>
            </a: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int y = points[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i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].y;</a:t>
            </a:r>
          </a:p>
          <a:p>
            <a:endParaRPr dirty="0">
              <a:solidFill>
                <a:srgbClr val="94476B"/>
              </a:solidFill>
              <a:latin typeface="FiraMono Nerd Font"/>
            </a:endParaRP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;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rbx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is address of the points array,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rax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is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i</a:t>
            </a:r>
            <a:endParaRPr dirty="0">
              <a:solidFill>
                <a:srgbClr val="94476B"/>
              </a:solidFill>
              <a:latin typeface="FiraMono Nerd Font"/>
            </a:endParaRP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mov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edx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, [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rbx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+ </a:t>
            </a:r>
            <a:r>
              <a:rPr lang="en-US" dirty="0">
                <a:solidFill>
                  <a:srgbClr val="94476B"/>
                </a:solidFill>
                <a:latin typeface="FiraMono Nerd Font"/>
              </a:rPr>
              <a:t>8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*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rax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 + </a:t>
            </a:r>
            <a:r>
              <a:rPr lang="en-US" dirty="0">
                <a:solidFill>
                  <a:srgbClr val="94476B"/>
                </a:solidFill>
                <a:latin typeface="FiraMono Nerd Font"/>
              </a:rPr>
              <a:t>4</a:t>
            </a:r>
            <a:r>
              <a:rPr dirty="0">
                <a:solidFill>
                  <a:srgbClr val="94476B"/>
                </a:solidFill>
                <a:latin typeface="FiraMono Nerd Font"/>
              </a:rPr>
              <a:t>] ; Move y of the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i-th</a:t>
            </a:r>
            <a:endParaRPr dirty="0">
              <a:solidFill>
                <a:srgbClr val="94476B"/>
              </a:solidFill>
              <a:latin typeface="FiraMono Nerd Font"/>
            </a:endParaRPr>
          </a:p>
          <a:p>
            <a:r>
              <a:rPr dirty="0">
                <a:solidFill>
                  <a:srgbClr val="94476B"/>
                </a:solidFill>
                <a:latin typeface="FiraMono Nerd Font"/>
              </a:rPr>
              <a:t>                           ; point into </a:t>
            </a:r>
            <a:r>
              <a:rPr dirty="0" err="1">
                <a:solidFill>
                  <a:srgbClr val="94476B"/>
                </a:solidFill>
                <a:latin typeface="FiraMono Nerd Font"/>
              </a:rPr>
              <a:t>edx</a:t>
            </a:r>
            <a:endParaRPr dirty="0">
              <a:solidFill>
                <a:srgbClr val="94476B"/>
              </a:solidFill>
              <a:latin typeface="FiraMono Nerd Fon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CC2C-6BE7-69DA-888A-FB463B8236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lea</a:t>
            </a:r>
            <a:r>
              <a:rPr lang="en-US" dirty="0"/>
              <a:t> load effective address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746B4-A6DC-8FEC-2AC3-BFCEFF02DE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lea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instruction places the address specified by its second operand into the register specified by its first operand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contents of the memory location are </a:t>
            </a:r>
            <a:r>
              <a:rPr 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loaded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only the effective address is computed and placed into the register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is useful for obtaining a pointer into a memory region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8309-CF50-A89C-57CD-D3B36C07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11F4-BCE3-4B8E-A8BB-964ED38C32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39486" y="301320"/>
            <a:ext cx="9336153" cy="1262160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lea</a:t>
            </a:r>
            <a:r>
              <a:rPr lang="en-US" dirty="0">
                <a:solidFill>
                  <a:srgbClr val="1B75BC"/>
                </a:solidFill>
              </a:rPr>
              <a:t> </a:t>
            </a:r>
            <a:r>
              <a:rPr lang="en-US" dirty="0"/>
              <a:t>vs </a:t>
            </a:r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</a:t>
            </a:r>
            <a:r>
              <a:rPr lang="en-US" dirty="0"/>
              <a:t> access to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23022-7798-D1CE-09B2-7111A416F4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426028"/>
            <a:ext cx="9071640" cy="5660571"/>
          </a:xfrm>
        </p:spPr>
        <p:txBody>
          <a:bodyPr>
            <a:normAutofit fontScale="55000" lnSpcReduction="20000"/>
          </a:bodyPr>
          <a:lstStyle/>
          <a:p>
            <a:pPr marL="685800" lvl="0" indent="-685800">
              <a:buSzPct val="100000"/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B75BC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// load y coordinate of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 into y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int y = points[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].y;</a:t>
            </a:r>
          </a:p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address of the points array,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edx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+ 8*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+ 4]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Move y of 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 into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edx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endParaRPr lang="en-US" dirty="0">
              <a:solidFill>
                <a:srgbClr val="94476B"/>
              </a:solidFill>
              <a:latin typeface="LMMono10" pitchFamily="17"/>
            </a:endParaRPr>
          </a:p>
          <a:p>
            <a:pPr marL="685800" lvl="0" indent="-685800">
              <a:buSzPct val="100000"/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B75BC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// load the address of the y coordinate of 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 into p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int *p = &amp;points[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].y;</a:t>
            </a:r>
          </a:p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address of the points array,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rsi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+ 8*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+ 4]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Move address of y of 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     ; into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rsi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558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1E8D-6EFD-7EDA-1617-1816B1DEC8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lea</a:t>
            </a:r>
            <a:r>
              <a:rPr lang="en-US" dirty="0"/>
              <a:t> is often used instead of add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B85B7-5BF4-7AC4-0EBF-09A70ABCB6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63480"/>
            <a:ext cx="9289225" cy="5523120"/>
          </a:xfrm>
        </p:spPr>
        <p:txBody>
          <a:bodyPr>
            <a:normAutofit fontScale="77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Compared to add, </a:t>
            </a:r>
            <a:r>
              <a:rPr lang="en-US" sz="3400" dirty="0"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lea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can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Perform addition with either two or three operands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Store the result in any register; not just one of the source operands.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lvl="0"/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+ 1234567 ]</a:t>
            </a: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</a:t>
            </a:r>
            <a:r>
              <a:rPr lang="en-US" sz="2900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= </a:t>
            </a:r>
            <a:r>
              <a:rPr lang="en-US" sz="2900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</a:t>
            </a:r>
            <a:r>
              <a:rPr lang="en-US" sz="2900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+ 1234567 (three operands)</a:t>
            </a:r>
          </a:p>
          <a:p>
            <a:pPr lvl="0"/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rcx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] ;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=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rcx</a:t>
            </a:r>
            <a:endParaRPr lang="en-US" sz="2900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add without overriding </a:t>
            </a:r>
            <a:r>
              <a:rPr lang="en-US" sz="2900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or </a:t>
            </a:r>
            <a:r>
              <a:rPr lang="en-US" sz="2900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rcx</a:t>
            </a:r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with the result</a:t>
            </a:r>
          </a:p>
          <a:p>
            <a:pPr lvl="0"/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rax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n * </a:t>
            </a:r>
            <a:r>
              <a:rPr lang="en-US" sz="2900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rbx</a:t>
            </a:r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] </a:t>
            </a:r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multiplication by constant</a:t>
            </a: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(limited set, by 2, 3, 4, 5, 8, and 9 since N is</a:t>
            </a: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limited to 1,2,4, and 8).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DC71D79-59A0-3CA0-D813-52EF1FCA196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/>
              <a:t>Arithmetic and logic instructions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1A5C-89D2-A262-602F-73DB1C3AC8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add</a:t>
            </a:r>
            <a:r>
              <a:rPr lang="en-US"/>
              <a:t> Integer addition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2CF28-198F-A3BD-DABF-666A5C2F2EC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add</a:t>
            </a:r>
            <a:r>
              <a:rPr lang="en-US" dirty="0">
                <a:latin typeface="Liberation Sans" pitchFamily="34"/>
              </a:rPr>
              <a:t> instruction adds together its two operands, storing the result in its first operand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Both operands may be registers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At most one operand may be a memory location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&lt;reg&gt;,&lt;reg&gt;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&lt;reg&gt;,&lt;mem&gt;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&lt;mem&gt;,&lt;reg&gt;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&lt;reg&gt;,&lt;con&gt;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&lt;mem&gt;,&lt;con&gt;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BB52-2724-8E03-95C6-6A434A07A5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add</a:t>
            </a:r>
            <a:r>
              <a:rPr lang="en-US"/>
              <a:t>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994DF-F2FC-54E2-D82F-B3CE3F7B6CF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/>
          </a:bodyPr>
          <a:lstStyle/>
          <a:p>
            <a:endParaRPr sz="2400" dirty="0"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r>
              <a:rPr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add </a:t>
            </a:r>
            <a:r>
              <a:rPr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10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RAX ← RAX + 10</a:t>
            </a:r>
          </a:p>
          <a:p>
            <a:r>
              <a:rPr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add BYTE PTR [var], 10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add 10 to the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single 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   ;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byte stored at</a:t>
            </a:r>
          </a:p>
          <a:p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   ; memory address var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EC8F-AF1E-9C63-35EF-BD13A7A17B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sub</a:t>
            </a:r>
            <a:r>
              <a:rPr lang="en-US"/>
              <a:t> Integer subtraction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27632-FD04-052F-0887-0948B43560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sub</a:t>
            </a:r>
            <a:r>
              <a:rPr lang="en-US" dirty="0">
                <a:latin typeface="Liberation Sans" pitchFamily="34"/>
              </a:rPr>
              <a:t> instruction stores in the value of its first operand the result of subtracting the value of its second operand from the value of its first operand.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sub al, ah  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AL ← AL - AH</a:t>
            </a:r>
          </a:p>
          <a:p>
            <a:pPr lvl="0"/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sub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216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subtract 216 from the value</a:t>
            </a:r>
          </a:p>
          <a:p>
            <a:pPr lvl="0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; stored in RAX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A98F4-D908-68FB-7796-05F6B9AAB6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inc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, </a:t>
            </a:r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dec</a:t>
            </a:r>
            <a:r>
              <a:rPr lang="en-US" dirty="0"/>
              <a:t> Increment, decrement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03A98-0546-26FA-7BA8-D7199D2BDED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69040"/>
            <a:ext cx="9307513" cy="53175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latin typeface="Liberation Sans"/>
              </a:rPr>
              <a:t>The </a:t>
            </a:r>
            <a:r>
              <a:rPr dirty="0" err="1">
                <a:latin typeface="Liberation Sans"/>
              </a:rPr>
              <a:t>inc</a:t>
            </a:r>
            <a:r>
              <a:rPr dirty="0">
                <a:latin typeface="Liberation Sans"/>
              </a:rPr>
              <a:t> instruction increments the contents of its operand by 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latin typeface="Liberation Sans"/>
              </a:rPr>
              <a:t>The dec instruction decrements the contents of its operand by 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latin typeface="Liberation Sans"/>
              </a:rPr>
              <a:t>Examples</a:t>
            </a:r>
            <a:endParaRPr lang="en-US" dirty="0">
              <a:latin typeface="Liberation Sans"/>
            </a:endParaRPr>
          </a:p>
          <a:p>
            <a:endParaRPr dirty="0">
              <a:latin typeface="Liberation Sans"/>
            </a:endParaRPr>
          </a:p>
          <a:p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dec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subtract one from RAX</a:t>
            </a:r>
          </a:p>
          <a:p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inc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QWORD PTR [var]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add one to the 64-bit</a:t>
            </a:r>
          </a:p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; integer stored at</a:t>
            </a:r>
          </a:p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; location var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E7C9-E731-4B0C-CA65-1604F0BDEA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and, or, xor</a:t>
            </a:r>
            <a:r>
              <a:rPr lang="en-US"/>
              <a:t> Bitwise logical and, or, and exclusive 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538F1-24F8-AB3F-BE3E-D402E9581F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These instructions perform the specified logical operation (logical bitwise and, or, and exclusive or, respectively) on their operands, placing the result in the first operand location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and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0fH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clear all but the last 4</a:t>
            </a:r>
          </a:p>
          <a:p>
            <a:pPr lvl="0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; bits of RAX</a:t>
            </a:r>
          </a:p>
          <a:p>
            <a:pPr lvl="0"/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xor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set the contents of RDX to</a:t>
            </a:r>
          </a:p>
          <a:p>
            <a:pPr lvl="0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; zero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D0B8-6F90-C424-97FE-D9BD3302F0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shl, shr </a:t>
            </a:r>
            <a:r>
              <a:rPr lang="en-US"/>
              <a:t>shift left, shift right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DC8A2-241F-D157-8B1F-8B0B1BD966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404257"/>
            <a:ext cx="9071640" cy="5682343"/>
          </a:xfrm>
        </p:spPr>
        <p:txBody>
          <a:bodyPr>
            <a:normAutofit fontScale="625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These instructions shift the bits in their first operand's contents left and right, padding the resulting empty bit positions with zeros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shifted operand can be shifted up to 63 places. The number of bits to shift is specified by the second operand, which can be either an 8-bit constant or the register CL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In either case, shifts counts of greater than 63 are performed modulo 64.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shl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Multiply the value of RAX by 2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; (if the most significant bit is 0)</a:t>
            </a:r>
          </a:p>
          <a:p>
            <a:pPr lvl="0"/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shr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cl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Store in RBX the floor of result of dividing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; the value of RBX by 2^n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; where n is the value in CL.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5314-93A9-FDF0-05D0-35DFAED65E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More instructions… (similar)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19AF0-C797-5ACC-E0F2-7DF4E36672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Multiplication </a:t>
            </a:r>
            <a:r>
              <a:rPr dirty="0" err="1">
                <a:solidFill>
                  <a:srgbClr val="0070C0"/>
                </a:solidFill>
              </a:rPr>
              <a:t>imul</a:t>
            </a:r>
            <a:endParaRPr dirty="0">
              <a:solidFill>
                <a:srgbClr val="0070C0"/>
              </a:solidFill>
            </a:endParaRPr>
          </a:p>
          <a:p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imul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[var] 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multiply RAX by the</a:t>
            </a:r>
          </a:p>
          <a:p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; 64-bit contents of the 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; 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memory location var. 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; 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Store result in RAX</a:t>
            </a:r>
          </a:p>
          <a:p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imul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25 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RSI ← RDI * 25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Division </a:t>
            </a:r>
            <a:r>
              <a:rPr dirty="0" err="1">
                <a:solidFill>
                  <a:srgbClr val="0070C0"/>
                </a:solidFill>
              </a:rPr>
              <a:t>idiv</a:t>
            </a:r>
            <a:endParaRPr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C0"/>
                </a:solidFill>
              </a:rPr>
              <a:t>not</a:t>
            </a:r>
            <a:r>
              <a:rPr dirty="0"/>
              <a:t> - </a:t>
            </a:r>
            <a:r>
              <a:rPr dirty="0" err="1"/>
              <a:t>bitvise</a:t>
            </a:r>
            <a:r>
              <a:rPr dirty="0"/>
              <a:t> logical not (flips all bits)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C0"/>
                </a:solidFill>
              </a:rPr>
              <a:t>neg</a:t>
            </a:r>
            <a:r>
              <a:rPr dirty="0"/>
              <a:t> - negation</a:t>
            </a:r>
          </a:p>
          <a:p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neg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RAX ← - RAX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6B23-1C2A-31B1-8B92-3F9A28B7CE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This is enough to do arithmetic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FA738-9FAA-5DB1-C556-46FBB81060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E8735-9AD0-8723-4CDA-7D417D77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7264-BF58-C612-D6E9-1D1136DD07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t>Poll Q1: What is inside rbx?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869A6-3803-A207-A5CE-0709578D4C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r>
              <a:rPr dirty="0"/>
              <a:t>After we execute the </a:t>
            </a:r>
            <a:r>
              <a:rPr dirty="0">
                <a:solidFill>
                  <a:srgbClr val="0070C0"/>
                </a:solidFill>
              </a:rPr>
              <a:t>mov</a:t>
            </a:r>
            <a:r>
              <a:rPr dirty="0"/>
              <a:t> instruction?</a:t>
            </a:r>
          </a:p>
          <a:p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2</a:t>
            </a:r>
          </a:p>
          <a:p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rbx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3</a:t>
            </a:r>
          </a:p>
          <a:p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rbx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</a:p>
          <a:p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what is the value of 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rbx</a:t>
            </a:r>
            <a:r>
              <a:rPr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here?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3FA99-D040-1ED4-9338-15E17AC56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825" y="3519367"/>
            <a:ext cx="3257814" cy="3257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9852E8-5447-5C6C-D5DB-2B51439B8E6D}"/>
              </a:ext>
            </a:extLst>
          </p:cNvPr>
          <p:cNvSpPr txBox="1"/>
          <p:nvPr/>
        </p:nvSpPr>
        <p:spPr>
          <a:xfrm>
            <a:off x="6190600" y="6796690"/>
            <a:ext cx="3474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https://</a:t>
            </a:r>
            <a:r>
              <a:rPr lang="en-US" sz="2400" dirty="0" err="1">
                <a:solidFill>
                  <a:srgbClr val="0070C0"/>
                </a:solidFill>
              </a:rPr>
              <a:t>pollev.com</a:t>
            </a:r>
            <a:r>
              <a:rPr lang="en-US" sz="2400" dirty="0">
                <a:solidFill>
                  <a:srgbClr val="0070C0"/>
                </a:solidFill>
              </a:rPr>
              <a:t>/cs5460</a:t>
            </a:r>
          </a:p>
        </p:txBody>
      </p:sp>
    </p:spTree>
    <p:extLst>
      <p:ext uri="{BB962C8B-B14F-4D97-AF65-F5344CB8AC3E}">
        <p14:creationId xmlns:p14="http://schemas.microsoft.com/office/powerpoint/2010/main" val="1503536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A98F-1D20-54E9-BAF3-ACC0AD910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5856-F368-4086-0805-38B25E6590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Q2: What is this instruction doing?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DA6AA-E6D1-C8CC-DF67-875928FE0F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 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Is it writing memory? Or reading it?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CA4F2-D205-D4DA-80CE-1722B39D7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264" y="3453699"/>
            <a:ext cx="3257814" cy="3257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AAA9B3-3ED6-5CB9-57B7-AFF1D5E7EC90}"/>
              </a:ext>
            </a:extLst>
          </p:cNvPr>
          <p:cNvSpPr txBox="1"/>
          <p:nvPr/>
        </p:nvSpPr>
        <p:spPr>
          <a:xfrm>
            <a:off x="5962039" y="6731022"/>
            <a:ext cx="361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https://</a:t>
            </a:r>
            <a:r>
              <a:rPr lang="en-US" sz="2400" dirty="0" err="1">
                <a:solidFill>
                  <a:srgbClr val="0070C0"/>
                </a:solidFill>
              </a:rPr>
              <a:t>pollev.com</a:t>
            </a:r>
            <a:r>
              <a:rPr lang="en-US" sz="2400" dirty="0">
                <a:solidFill>
                  <a:srgbClr val="0070C0"/>
                </a:solidFill>
              </a:rPr>
              <a:t>/cs5460</a:t>
            </a:r>
          </a:p>
        </p:txBody>
      </p:sp>
    </p:spTree>
    <p:extLst>
      <p:ext uri="{BB962C8B-B14F-4D97-AF65-F5344CB8AC3E}">
        <p14:creationId xmlns:p14="http://schemas.microsoft.com/office/powerpoint/2010/main" val="3896001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7C08C-114E-AF99-55BA-C248DAFB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0EEC-5024-3A11-9EC3-E540233D1B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Q3: Is this a legal instruction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379CF-3933-FBBC-CACE-3FCF6DA495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],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C5370-F316-D09A-C2D4-2CCF13C2C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825" y="3324572"/>
            <a:ext cx="3257814" cy="3257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A8CCFB-65E4-EF9D-9B40-82C36CFF9FE5}"/>
              </a:ext>
            </a:extLst>
          </p:cNvPr>
          <p:cNvSpPr txBox="1"/>
          <p:nvPr/>
        </p:nvSpPr>
        <p:spPr>
          <a:xfrm>
            <a:off x="6190600" y="6601895"/>
            <a:ext cx="3566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https://</a:t>
            </a:r>
            <a:r>
              <a:rPr lang="en-US" sz="2400" dirty="0" err="1">
                <a:solidFill>
                  <a:srgbClr val="0070C0"/>
                </a:solidFill>
              </a:rPr>
              <a:t>pollev.com</a:t>
            </a:r>
            <a:r>
              <a:rPr lang="en-US" sz="2400" dirty="0">
                <a:solidFill>
                  <a:srgbClr val="0070C0"/>
                </a:solidFill>
              </a:rPr>
              <a:t>/cs5460</a:t>
            </a:r>
          </a:p>
        </p:txBody>
      </p:sp>
    </p:spTree>
    <p:extLst>
      <p:ext uri="{BB962C8B-B14F-4D97-AF65-F5344CB8AC3E}">
        <p14:creationId xmlns:p14="http://schemas.microsoft.com/office/powerpoint/2010/main" val="2669642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9CFE494-FB9D-E468-CDD9-9C917EC043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400"/>
              <a:t>Control flow instructions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B6FF2E-5AD8-C934-39C7-2FD32E5C5D9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0"/>
            <a:ext cx="4518000" cy="75596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2113457-F347-0CB4-D7FF-FBE814A50D55}"/>
              </a:ext>
            </a:extLst>
          </p:cNvPr>
          <p:cNvSpPr/>
          <p:nvPr/>
        </p:nvSpPr>
        <p:spPr>
          <a:xfrm>
            <a:off x="558000" y="5562360"/>
            <a:ext cx="2413800" cy="19814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ADAAD4EF-A26C-A16D-E57C-9C23A4E47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280" y="49356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0CB4A6-971C-2488-F8DE-AA7FA1EE672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172200" y="1636200"/>
            <a:ext cx="804240" cy="94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DED1-8DF0-A2B5-D900-ED68A900E6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t>RIP instruction pointer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BDC51-FD96-7BC5-43A9-C7B88AF876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C0"/>
                </a:solidFill>
                <a:latin typeface="Liberation Sans"/>
              </a:rPr>
              <a:t>RIP</a:t>
            </a:r>
            <a:r>
              <a:rPr dirty="0">
                <a:latin typeface="Liberation Sans"/>
              </a:rPr>
              <a:t> is a 64-bit value indicating the location in memory where the current instruction starts</a:t>
            </a:r>
          </a:p>
          <a:p>
            <a:pPr marL="1143000" lvl="1" indent="-457200">
              <a:lnSpc>
                <a:spcPct val="100000"/>
              </a:lnSpc>
            </a:pPr>
            <a:r>
              <a:rPr sz="2800" dirty="0">
                <a:latin typeface="Liberation Sans"/>
              </a:rPr>
              <a:t>(i.e., memory address of the instruction)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C0"/>
                </a:solidFill>
                <a:latin typeface="Liberation Sans"/>
              </a:rPr>
              <a:t>RIP</a:t>
            </a:r>
            <a:r>
              <a:rPr dirty="0">
                <a:latin typeface="Liberation Sans"/>
              </a:rPr>
              <a:t> cannot be changed directly</a:t>
            </a:r>
          </a:p>
          <a:p>
            <a:pPr marL="1143000" lvl="1" indent="-457200">
              <a:lnSpc>
                <a:spcPct val="100000"/>
              </a:lnSpc>
            </a:pPr>
            <a:r>
              <a:rPr sz="2800" dirty="0">
                <a:latin typeface="Liberation Sans"/>
              </a:rPr>
              <a:t>Normally, it increments to point to the next instruction in memory</a:t>
            </a:r>
          </a:p>
          <a:p>
            <a:pPr marL="1143000" lvl="1" indent="-457200">
              <a:lnSpc>
                <a:spcPct val="100000"/>
              </a:lnSpc>
            </a:pPr>
            <a:r>
              <a:rPr sz="2800" dirty="0">
                <a:latin typeface="Liberation Sans"/>
              </a:rPr>
              <a:t>But it can be updated implicitly by control flow instructions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B087-4A92-D83A-31C4-2F7E556175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Labels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310C9-7D6C-F5F4-9179-51A4EBF7EB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 &lt;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label</a:t>
            </a:r>
            <a:r>
              <a:rPr lang="en-US" dirty="0">
                <a:latin typeface="Liberation Sans" pitchFamily="34"/>
              </a:rPr>
              <a:t>&gt; refers to a labeled location in the program text (code).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Labels can be inserted anywhere in x86 assembly code text by entering a label name followed by a colon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                  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[rbp+8]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begin: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xor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rcx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rcx</a:t>
            </a:r>
            <a:endParaRPr lang="en-US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mov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60F1-C97B-4DB0-3EE9-E64654B13B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jump</a:t>
            </a:r>
            <a:r>
              <a:rPr lang="en-US"/>
              <a:t>: jump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67C23-652E-D5CE-790B-E33E8BA41E9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925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Transfers program control flow to the instruction at the memory location indicated by the operand.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>
              <a:buSzPct val="100000"/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jmp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begin: 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xor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rcx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rcx</a:t>
            </a:r>
            <a:endParaRPr lang="en-US" sz="2600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...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jmp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begin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jump to instruction labeled</a:t>
            </a:r>
          </a:p>
          <a:p>
            <a:pPr lvl="0"/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; begin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2A28-1993-CA48-4500-2AD688B958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j</a:t>
            </a:r>
            <a:r>
              <a:rPr lang="en-US" i="1">
                <a:solidFill>
                  <a:srgbClr val="1B75BC"/>
                </a:solidFill>
              </a:rPr>
              <a:t>condition</a:t>
            </a:r>
            <a:r>
              <a:rPr lang="en-US"/>
              <a:t>: conditional jump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1507B-68F8-C0AC-DD97-2F48878FB3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700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Jumps only if a condition is true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The status of a set of condition codes that are stored in a special register (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RFLAGS</a:t>
            </a:r>
            <a:r>
              <a:rPr lang="en-US" sz="3200" dirty="0">
                <a:latin typeface="Liberation Sans" pitchFamily="34"/>
              </a:rPr>
              <a:t>)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RFLAGS</a:t>
            </a:r>
            <a:r>
              <a:rPr lang="en-US" sz="3200" dirty="0">
                <a:latin typeface="Liberation Sans" pitchFamily="34"/>
              </a:rPr>
              <a:t> stores information about the last arithmetic operation </a:t>
            </a:r>
            <a:r>
              <a:rPr lang="en-US" sz="3200" dirty="0" err="1">
                <a:latin typeface="Liberation Sans" pitchFamily="34"/>
              </a:rPr>
              <a:t>performedm</a:t>
            </a:r>
            <a:r>
              <a:rPr lang="en-US" sz="3200" dirty="0">
                <a:latin typeface="Liberation Sans" pitchFamily="34"/>
              </a:rPr>
              <a:t> for example,</a:t>
            </a:r>
          </a:p>
          <a:p>
            <a:pPr marL="457200" lvl="2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Bit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6</a:t>
            </a:r>
            <a:r>
              <a:rPr lang="en-US" sz="3200" dirty="0">
                <a:latin typeface="Liberation Sans" pitchFamily="34"/>
              </a:rPr>
              <a:t> of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RFLAGS</a:t>
            </a:r>
            <a:r>
              <a:rPr lang="en-US" sz="3200" dirty="0">
                <a:latin typeface="Liberation Sans" pitchFamily="34"/>
              </a:rPr>
              <a:t> indicates if the last result was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zero</a:t>
            </a:r>
          </a:p>
          <a:p>
            <a:pPr marL="457200" lvl="2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Bit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7</a:t>
            </a:r>
            <a:r>
              <a:rPr lang="en-US" sz="3200" dirty="0">
                <a:latin typeface="Liberation Sans" pitchFamily="34"/>
              </a:rPr>
              <a:t> indicates if the last result was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negative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Based on these bits, different conditional jumps can be performed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For example, the </a:t>
            </a:r>
            <a:r>
              <a:rPr lang="en-US" sz="3200" dirty="0" err="1">
                <a:solidFill>
                  <a:srgbClr val="1B75BC"/>
                </a:solidFill>
                <a:latin typeface="Liberation Sans" pitchFamily="34"/>
              </a:rPr>
              <a:t>jz</a:t>
            </a:r>
            <a:r>
              <a:rPr lang="en-US" sz="3200" dirty="0">
                <a:latin typeface="Liberation Sans" pitchFamily="34"/>
              </a:rPr>
              <a:t> instruction performs a jump to the specified operand label if the result of the last arithmetic operation was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zero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Otherwise, control proceeds to the next instruction in sequence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300D20-4AE6-627A-C310-FA6B8D76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12" y="0"/>
            <a:ext cx="9372600" cy="747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43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3274-2B4C-D72A-BB4F-ECABB79F9E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Conditional jumps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D2809-4CBE-D73B-D98D-D013ACE229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550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Most conditional jump follow the comparison instruction (</a:t>
            </a:r>
            <a:r>
              <a:rPr lang="en-US" dirty="0" err="1">
                <a:latin typeface="Liberation Sans" pitchFamily="34"/>
              </a:rPr>
              <a:t>cmp</a:t>
            </a:r>
            <a:r>
              <a:rPr lang="en-US" dirty="0">
                <a:latin typeface="Liberation Sans" pitchFamily="34"/>
              </a:rPr>
              <a:t>, we’ll cover it below)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je &lt;label&gt; (jump when equal)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jne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not equal)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jz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last result was zero)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jg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greater than)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jge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greater than or equal to)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jl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less than)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jle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less than or equal to)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Example:  if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RAX</a:t>
            </a:r>
            <a:r>
              <a:rPr lang="en-US" dirty="0">
                <a:latin typeface="Liberation Sans" pitchFamily="34"/>
              </a:rPr>
              <a:t> is less than or equal to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RBX</a:t>
            </a:r>
            <a:r>
              <a:rPr lang="en-US" dirty="0">
                <a:latin typeface="Liberation Sans" pitchFamily="34"/>
              </a:rPr>
              <a:t>, jump to the label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done</a:t>
            </a:r>
            <a:r>
              <a:rPr lang="en-US" dirty="0">
                <a:latin typeface="Liberation Sans" pitchFamily="34"/>
              </a:rPr>
              <a:t>. Otherwise, continue to the next instruction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rbx</a:t>
            </a:r>
            <a:endParaRPr lang="en-US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jle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done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03C5-DB80-1A79-5B78-C55291CF53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cmp</a:t>
            </a:r>
            <a:r>
              <a:rPr lang="en-US"/>
              <a:t>: compare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329FE-280D-11EC-B446-6D07185242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490472"/>
            <a:ext cx="9071640" cy="5596128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>
                <a:latin typeface="Liberation Sans"/>
              </a:rPr>
              <a:t>Compare the values of the two specified operands, setting the condition codes in RFLAGS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>
                <a:latin typeface="Liberation Sans"/>
              </a:rPr>
              <a:t>This instruction is equivalent to the sub instruction, except the result of the subtraction is discarded instead of replacing the first operand.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>
                <a:latin typeface="Liberation Sans"/>
              </a:rPr>
              <a:t>Syntax</a:t>
            </a:r>
          </a:p>
          <a:p>
            <a:r>
              <a:rPr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&lt;reg&gt;,&lt;reg&gt;</a:t>
            </a:r>
          </a:p>
          <a:p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&lt;reg&gt;,&lt;mem&gt;</a:t>
            </a:r>
          </a:p>
          <a:p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&lt;mem&gt;,&lt;reg&gt;</a:t>
            </a:r>
          </a:p>
          <a:p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&lt;reg&gt;,&lt;con&gt;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>
                <a:latin typeface="Liberation Sans"/>
              </a:rPr>
              <a:t>Example:  if the 8 bytes stored at location var are equal to the 8-byte integer constant 10, jump to the location labeled loop.</a:t>
            </a:r>
          </a:p>
          <a:p>
            <a:r>
              <a:rPr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QWORD PTR [var], 10</a:t>
            </a:r>
          </a:p>
          <a:p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</a:t>
            </a:r>
            <a:r>
              <a:rPr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jeq</a:t>
            </a:r>
            <a:r>
              <a:rPr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loop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4EE0693-4993-7691-8599-732B49EB4C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800"/>
              <a:t>Stack and procedure calls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291BE81-DD91-8451-498D-85EE3E06F0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5400"/>
              <a:t>What is stack?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9190C6-48D8-62AF-A1BB-7932A08F764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03640" y="111600"/>
            <a:ext cx="4885560" cy="73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9E2C004-DCA1-48B8-A08C-9913EC55D0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5211000" cy="1262160"/>
          </a:xfrm>
        </p:spPr>
        <p:txBody>
          <a:bodyPr/>
          <a:lstStyle/>
          <a:p>
            <a:pPr lvl="0"/>
            <a:r>
              <a:rPr lang="en-US" dirty="0"/>
              <a:t>Stack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57986-E441-C809-49E8-2E5AA9BADD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r>
              <a:t>It's just a region of memory</a:t>
            </a:r>
          </a:p>
          <a:p>
            <a:r>
              <a:t>Pointed by a special register RSP</a:t>
            </a:r>
          </a:p>
          <a:p>
            <a:r>
              <a:t>You can change RSP</a:t>
            </a:r>
          </a:p>
          <a:p>
            <a:r>
              <a:t>Get a new stack</a:t>
            </a:r>
          </a:p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5B9B0-BE00-FD15-AF73-014D7A10238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60840" y="225540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4E998-FD4C-0B11-B0CE-B9AED202B0B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5388840" y="1380960"/>
            <a:ext cx="822600" cy="55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20D5FA-4E8D-96A0-21D0-EEA13C9A6C0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289560" y="5824800"/>
            <a:ext cx="2120760" cy="133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F3D842-6EF7-9702-9AEF-C7D6F1C61EA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388840" y="1380960"/>
            <a:ext cx="804240" cy="591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1D496CA-591A-8ADA-BA64-B2B8CC1337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400"/>
              <a:t>Why do we need stack?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70C1-7EC3-DAED-88D6-5698681E1B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Calling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BF8DA-AA18-CDBF-8D95-9949286740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426920" cy="4384440"/>
          </a:xfrm>
        </p:spPr>
        <p:txBody>
          <a:bodyPr>
            <a:normAutofit fontScale="92500" lnSpcReduction="20000"/>
          </a:bodyPr>
          <a:lstStyle/>
          <a:p>
            <a:pPr lvl="0"/>
            <a:endParaRPr lang="en-US" dirty="0"/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// some code...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foo();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// more code..</a:t>
            </a:r>
          </a:p>
          <a:p>
            <a:pPr lvl="0"/>
            <a:endParaRPr lang="en-US" dirty="0"/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Stack contains information for </a:t>
            </a:r>
            <a:r>
              <a:rPr lang="en-US" dirty="0">
                <a:solidFill>
                  <a:srgbClr val="1B75BC"/>
                </a:solidFill>
              </a:rPr>
              <a:t>how to return</a:t>
            </a:r>
            <a:r>
              <a:rPr lang="en-US" dirty="0"/>
              <a:t> from a subroutine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i.e., from foo()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C54D3-76C6-A392-2953-D9A3603CE1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769040"/>
            <a:ext cx="4426920" cy="4384440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Functions can be called from different places in the program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</a:rPr>
              <a:t>       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if (a == 0) {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foo();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…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} else {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foo();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…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45D2-E11E-DE5C-F425-8C259F1270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7179A-2275-2EE4-F4AF-7DFDB3C537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Main purpose: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Store the return address for the current procedure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Caller</a:t>
            </a:r>
            <a:r>
              <a:rPr lang="en-US" sz="3200" dirty="0">
                <a:latin typeface="Liberation Sans" pitchFamily="18"/>
              </a:rPr>
              <a:t> pushes return address on the stack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Callee</a:t>
            </a:r>
            <a:r>
              <a:rPr lang="en-US" sz="3200" dirty="0">
                <a:latin typeface="Liberation Sans" pitchFamily="18"/>
              </a:rPr>
              <a:t> pops it and jumps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F17E21E0-9C09-E757-BC17-40501ADA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3DF66E-D75D-F2D2-C57D-E9107DCF161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D6641-B242-33BA-30CA-E470FE2A09D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273680"/>
            <a:ext cx="822600" cy="68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4709-247E-D02F-9248-EC3ED7D1E5F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172200" y="1636560"/>
            <a:ext cx="804240" cy="29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9152CF-27AE-587A-B6BA-CC5F8616F6B3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012440" y="1389240"/>
            <a:ext cx="2111760" cy="47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D7B5E6-0F33-54BE-31E9-E6BDD1EDDC1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8229600" y="1610640"/>
            <a:ext cx="1245960" cy="158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39142B-37D3-C0C7-6FB5-0200F72D0CF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172200" y="1246680"/>
            <a:ext cx="822600" cy="24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55EA-89F2-D883-440A-361DA2E148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1BF02-EFB7-8719-D848-1AC05B4E92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Main purpose: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Store the return address for the current procedure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Caller</a:t>
            </a:r>
            <a:r>
              <a:rPr lang="en-US" sz="3200" dirty="0">
                <a:latin typeface="Liberation Sans" pitchFamily="18"/>
              </a:rPr>
              <a:t> pushes return address on the stack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Callee</a:t>
            </a:r>
            <a:r>
              <a:rPr lang="en-US" sz="3200" dirty="0">
                <a:latin typeface="Liberation Sans" pitchFamily="18"/>
              </a:rPr>
              <a:t> pops it and jumps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F17DC4C6-8143-178C-6F6D-C775898D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14706C-D238-A4FF-A823-E8380B05808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156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12E95A-72E9-2E3E-4AAC-012E9F4ECA6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310040"/>
            <a:ext cx="822600" cy="61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E4C91E-429B-08F5-2DD3-B45DEFAD799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172200" y="1636560"/>
            <a:ext cx="804240" cy="407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D7B75-6B52-6EB5-3350-9875366D636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032240" y="1371600"/>
            <a:ext cx="2111760" cy="47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F4130B-D85C-17AD-5107-037E71C8A273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8229600" y="1600200"/>
            <a:ext cx="124596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DBDBB4-E4B2-15A0-36E7-FF9BA6DF43F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172200" y="1251000"/>
            <a:ext cx="822600" cy="24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"/>
                            </p:stCondLst>
                            <p:childTnLst>
                              <p:par>
                                <p:cTn id="15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"/>
                            </p:stCondLst>
                            <p:childTnLst>
                              <p:par>
                                <p:cTn id="18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2"/>
                            </p:stCondLst>
                            <p:childTnLst>
                              <p:par>
                                <p:cTn id="2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177F-590C-CB99-55FC-46439AD3BF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Call/return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C047F-2053-7773-FFCF-6E8DD11FA3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989240"/>
          </a:xfrm>
        </p:spPr>
        <p:txBody>
          <a:bodyPr>
            <a:normAutofit fontScale="92500" lnSpcReduction="10000"/>
          </a:bodyPr>
          <a:lstStyle/>
          <a:p>
            <a:r>
              <a:rPr>
                <a:solidFill>
                  <a:srgbClr val="1B75BC"/>
                </a:solidFill>
              </a:rPr>
              <a:t>CALL instruction</a:t>
            </a:r>
          </a:p>
          <a:p>
            <a:r>
              <a:rPr>
                <a:solidFill>
                  <a:srgbClr val="1B75BC"/>
                </a:solidFill>
              </a:rPr>
              <a:t>Makes an unconditional jump to a subprogram and pushes the address of the next instruction on the stack</a:t>
            </a:r>
          </a:p>
          <a:p>
            <a:r>
              <a:rPr>
                <a:solidFill>
                  <a:srgbClr val="1B75BC"/>
                </a:solidFill>
              </a:rPr>
              <a:t>     push rip + sizeof(CALL) ; save return  </a:t>
            </a:r>
          </a:p>
          <a:p>
            <a:r>
              <a:rPr>
                <a:solidFill>
                  <a:srgbClr val="1B75BC"/>
                </a:solidFill>
              </a:rPr>
              <a:t>                          ; address</a:t>
            </a:r>
          </a:p>
          <a:p>
            <a:r>
              <a:rPr>
                <a:solidFill>
                  <a:srgbClr val="1B75BC"/>
                </a:solidFill>
              </a:rPr>
              <a:t>  jmp _my_function</a:t>
            </a:r>
          </a:p>
          <a:p>
            <a:r>
              <a:rPr>
                <a:solidFill>
                  <a:srgbClr val="1B75BC"/>
                </a:solidFill>
              </a:rPr>
              <a:t>RET instruction</a:t>
            </a:r>
          </a:p>
          <a:p>
            <a:r>
              <a:rPr>
                <a:solidFill>
                  <a:srgbClr val="1B75BC"/>
                </a:solidFill>
              </a:rPr>
              <a:t>Pops off an address and jumps to that address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0EF5-586B-865A-C5BF-D55EAF4C317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09383-780E-0DDC-0A84-2D085D18EF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Other uses: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Local data storage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Parameter passing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Evaluation stack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Register spill</a:t>
            </a:r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5BB5A293-4828-3976-59EE-E7B4F89F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D549F-FA5E-A1FD-5E07-28E9C7162A8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56B468-C2BB-04F3-6CF0-AD33B18CA6E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310040"/>
            <a:ext cx="822600" cy="64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CE80-3B66-FE6E-2220-D59CD275A8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Manipulating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62BEF-0A4B-C03F-FEB8-911582D824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068000" cy="4989240"/>
          </a:xfrm>
        </p:spPr>
        <p:txBody>
          <a:bodyPr>
            <a:normAutofit fontScale="92500" lnSpcReduction="10000"/>
          </a:bodyPr>
          <a:lstStyle/>
          <a:p>
            <a:r>
              <a:rPr>
                <a:solidFill>
                  <a:srgbClr val="1B75BC"/>
                </a:solidFill>
              </a:rPr>
              <a:t>RSP register</a:t>
            </a:r>
          </a:p>
          <a:p>
            <a:r>
              <a:rPr>
                <a:solidFill>
                  <a:srgbClr val="1B75BC"/>
                </a:solidFill>
              </a:rPr>
              <a:t>Contains the memory address of the topmost element in the stack</a:t>
            </a:r>
          </a:p>
          <a:p>
            <a:r>
              <a:rPr>
                <a:solidFill>
                  <a:srgbClr val="1B75BC"/>
                </a:solidFill>
              </a:rPr>
              <a:t>PUSH instruction</a:t>
            </a:r>
          </a:p>
          <a:p>
            <a:r>
              <a:rPr>
                <a:solidFill>
                  <a:srgbClr val="1B75BC"/>
                </a:solidFill>
              </a:rPr>
              <a:t>     push 0xBAR</a:t>
            </a:r>
          </a:p>
          <a:p>
            <a:endParaRPr>
              <a:solidFill>
                <a:srgbClr val="1B75BC"/>
              </a:solidFill>
            </a:endParaRPr>
          </a:p>
          <a:p>
            <a:r>
              <a:rPr>
                <a:solidFill>
                  <a:srgbClr val="1B75BC"/>
                </a:solidFill>
              </a:rPr>
              <a:t>Subtract 8 from RSP</a:t>
            </a:r>
          </a:p>
          <a:p>
            <a:r>
              <a:rPr>
                <a:solidFill>
                  <a:srgbClr val="1B75BC"/>
                </a:solidFill>
              </a:rPr>
              <a:t>Insert data on the stack</a:t>
            </a:r>
          </a:p>
          <a:p>
            <a:endParaRPr>
              <a:solidFill>
                <a:srgbClr val="1B75B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51B92-6097-C4CB-4095-F85B149792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5B5630-3A0B-1A23-6091-EEDAB7E1834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400" y="1371600"/>
            <a:ext cx="822600" cy="24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366B8-D92B-E5BB-9452-153E1CF690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85560" cy="73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8FCF0-F20A-306F-D5B4-4E659F334E2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400" y="1457640"/>
            <a:ext cx="82260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0D1F4-469C-CFDC-6930-7A82794FA74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330240" y="1524240"/>
            <a:ext cx="2105640" cy="47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6EC4BE-1B97-DF78-A40E-DA67603405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520"/>
            <a:ext cx="804240" cy="14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0948-C980-0DCE-1DE5-17036073DD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Manipulating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5562E-43FA-2702-4C0A-3DB7592518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068000" cy="4989240"/>
          </a:xfrm>
        </p:spPr>
        <p:txBody>
          <a:bodyPr/>
          <a:lstStyle/>
          <a:p>
            <a:r>
              <a:rPr>
                <a:solidFill>
                  <a:srgbClr val="1B75BC"/>
                </a:solidFill>
              </a:rPr>
              <a:t>POP instruction</a:t>
            </a:r>
          </a:p>
          <a:p>
            <a:r>
              <a:rPr>
                <a:solidFill>
                  <a:srgbClr val="1B75BC"/>
                </a:solidFill>
              </a:rPr>
              <a:t>     pop RAX</a:t>
            </a:r>
          </a:p>
          <a:p>
            <a:endParaRPr>
              <a:solidFill>
                <a:srgbClr val="1B75BC"/>
              </a:solidFill>
            </a:endParaRPr>
          </a:p>
          <a:p>
            <a:r>
              <a:rPr>
                <a:solidFill>
                  <a:srgbClr val="1B75BC"/>
                </a:solidFill>
              </a:rPr>
              <a:t>Removes data from the stack</a:t>
            </a:r>
          </a:p>
          <a:p>
            <a:r>
              <a:rPr>
                <a:solidFill>
                  <a:srgbClr val="1B75BC"/>
                </a:solidFill>
              </a:rPr>
              <a:t>Saves in register or memory</a:t>
            </a:r>
          </a:p>
          <a:p>
            <a:r>
              <a:rPr>
                <a:solidFill>
                  <a:srgbClr val="1B75BC"/>
                </a:solidFill>
              </a:rPr>
              <a:t>Adds 8 to RSP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26723-ED86-6C14-B248-018FD214741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EC873A-CDE9-F3A9-E8DF-8D65B9D7F70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400" y="1371600"/>
            <a:ext cx="822600" cy="24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DF6C5-BAC7-171D-EF9C-0F760CE26DB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85560" cy="73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79491C-9557-3CA8-DBED-582E95FCC56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400" y="1457640"/>
            <a:ext cx="82260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2A5081-C971-D8AF-CB08-A63DF4723AA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330240" y="1524240"/>
            <a:ext cx="2105640" cy="47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091C4C-834C-D90E-9EED-E2D948BA8F3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14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064C36-5215-6702-4D31-87387137EA8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4717800" y="5333760"/>
            <a:ext cx="1349640" cy="15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"/>
                            </p:stCondLst>
                            <p:childTnLst>
                              <p:par>
                                <p:cTn id="18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2823" y="2960334"/>
            <a:ext cx="2368946" cy="1583901"/>
          </a:xfrm>
        </p:spPr>
        <p:txBody>
          <a:bodyPr/>
          <a:lstStyle/>
          <a:p>
            <a:r>
              <a:rPr lang="en-US" sz="3969" dirty="0">
                <a:solidFill>
                  <a:srgbClr val="0070C0"/>
                </a:solidFill>
              </a:rPr>
              <a:t>Thank you!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F7C26-5391-E1A8-542C-DB0DFE704B3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139" y="938306"/>
            <a:ext cx="7178486" cy="5676707"/>
          </a:xfrm>
          <a:prstGeom prst="rect">
            <a:avLst/>
          </a:prstGeom>
          <a:noFill/>
        </p:spPr>
      </p:pic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50893EC-12B2-955B-BAB9-5C457C002010}"/>
              </a:ext>
            </a:extLst>
          </p:cNvPr>
          <p:cNvSpPr/>
          <p:nvPr/>
        </p:nvSpPr>
        <p:spPr>
          <a:xfrm>
            <a:off x="5029965" y="1095878"/>
            <a:ext cx="3272787" cy="1864456"/>
          </a:xfrm>
          <a:prstGeom prst="wedgeRoundRectCallout">
            <a:avLst>
              <a:gd name="adj1" fmla="val -73592"/>
              <a:gd name="adj2" fmla="val 4657"/>
              <a:gd name="adj3" fmla="val 16667"/>
            </a:avLst>
          </a:prstGeom>
          <a:solidFill>
            <a:srgbClr val="EDF6F8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15" dirty="0">
                <a:solidFill>
                  <a:srgbClr val="0070C0"/>
                </a:solidFill>
              </a:rPr>
              <a:t>Maybe let’s flip the source and destination operands?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6813BD5E-9176-7301-3A5B-4A3A3EBD1008}"/>
              </a:ext>
            </a:extLst>
          </p:cNvPr>
          <p:cNvSpPr/>
          <p:nvPr/>
        </p:nvSpPr>
        <p:spPr>
          <a:xfrm>
            <a:off x="5275527" y="3115290"/>
            <a:ext cx="3165088" cy="1793282"/>
          </a:xfrm>
          <a:prstGeom prst="wedgeRoundRectCallout">
            <a:avLst>
              <a:gd name="adj1" fmla="val -69406"/>
              <a:gd name="adj2" fmla="val -56961"/>
              <a:gd name="adj3" fmla="val 16667"/>
            </a:avLst>
          </a:prstGeom>
          <a:solidFill>
            <a:srgbClr val="EDF6F8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5" dirty="0">
              <a:solidFill>
                <a:srgbClr val="0070C0"/>
              </a:solidFill>
            </a:endParaRPr>
          </a:p>
        </p:txBody>
      </p:sp>
      <p:pic>
        <p:nvPicPr>
          <p:cNvPr id="4100" name="Picture 4" descr="8+ Thousand Devil Emoji Royalty-Free ...">
            <a:extLst>
              <a:ext uri="{FF2B5EF4-FFF2-40B4-BE49-F238E27FC236}">
                <a16:creationId xmlns:a16="http://schemas.microsoft.com/office/drawing/2014/main" id="{3DEE14C2-9931-E550-B05F-369D07218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855" y="3303905"/>
            <a:ext cx="1435101" cy="141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4917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179D-0B62-9398-30B5-72C94889D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Old 32bit ASM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FDCE9-8D4C-B5B3-F175-A4F29779E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477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DAD6-8400-644A-C1BC-648EE46884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We use the following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EB54A-C02E-DF73-7679-E396385C27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1415143"/>
            <a:ext cx="9666514" cy="5671457"/>
          </a:xfrm>
        </p:spPr>
        <p:txBody>
          <a:bodyPr>
            <a:normAutofit fontScale="6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  <a:cs typeface="Consolas" panose="020B0609020204030204" pitchFamily="49" charset="0"/>
            </a:endParaRP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&lt;reg32&gt;  Any 32-bit register (EAX,EBX,ECX,EDX,ESI,EDI,ESP,EBP)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&lt;reg16&gt;  Any 16-bit register (AX, BX, CX, or DX)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&lt;reg8&gt;   Any 8-bit register (AH, BH, CH, DH, AL, BL, CL, DL)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&lt;reg&gt;    Any register</a:t>
            </a:r>
          </a:p>
          <a:p>
            <a:pPr lvl="0">
              <a:buSzPct val="45000"/>
            </a:pPr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  <a:cs typeface="Consolas" panose="020B0609020204030204" pitchFamily="49" charset="0"/>
            </a:endParaRP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&lt;mem&gt;    A memory address (e.g.,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], [var + 4], 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          or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dword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eax+ebx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])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&lt;con32&gt;  Any 32-bit constant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&lt;con16&gt;  Any 16-bit constant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&lt;con8&gt;   Any 8-bit constant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  <a:cs typeface="Consolas" panose="020B0609020204030204" pitchFamily="49" charset="0"/>
              </a:rPr>
              <a:t>&lt;con&gt;    Any 8-, 16-, or 32-bit constant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1C08-5AE3-A4A1-CDC1-8D1F801961C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mov</a:t>
            </a:r>
            <a:r>
              <a:rPr lang="en-US" dirty="0"/>
              <a:t> </a:t>
            </a:r>
            <a:r>
              <a:rPr lang="en-US" dirty="0" err="1"/>
              <a:t>instruciton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95A42-7258-96EE-7B97-F1A112D974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77500" lnSpcReduction="20000"/>
          </a:bodyPr>
          <a:lstStyle/>
          <a:p>
            <a:pPr marL="457200" lvl="0" indent="-457200">
              <a:buSzPct val="45000"/>
              <a:buFont typeface="StarSymbol"/>
              <a:buChar char="●"/>
            </a:pPr>
            <a:r>
              <a:rPr lang="en-US" dirty="0">
                <a:latin typeface="Liberation Sans" pitchFamily="34"/>
              </a:rPr>
              <a:t>Copies the data item referred to by its second operand (i.e. register contents, memory contents, or a constant value) into the location referred to by its first operand (i.e. a register or memory).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ans" pitchFamily="34"/>
              </a:rPr>
              <a:t>Register-to-register moves are possible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ans" pitchFamily="34"/>
              </a:rPr>
              <a:t>Direct memory-to-memory moves are not</a:t>
            </a:r>
          </a:p>
          <a:p>
            <a:pPr marL="457200" lvl="0" indent="-457200">
              <a:buSzPct val="45000"/>
              <a:buFont typeface="StarSymbol"/>
              <a:buChar char="●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&lt;reg&gt;,&lt;reg&gt;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&lt;reg&gt;,&lt;mem&gt;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&lt;mem&gt;,&lt;reg&gt;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&lt;reg&gt;,&lt;const&gt;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&lt;mem&gt;,&lt;const&gt;</a:t>
            </a:r>
          </a:p>
          <a:p>
            <a:pPr lvl="0"/>
            <a:endParaRPr lang="en-US" dirty="0">
              <a:solidFill>
                <a:srgbClr val="94476B"/>
              </a:solidFill>
              <a:latin typeface="LMMono10" pitchFamily="17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01EC-65B7-7BE8-9072-E07A3252FB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mov</a:t>
            </a:r>
            <a:r>
              <a:rPr lang="en-US"/>
              <a:t>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B80B1-8E49-07DF-1EAC-44FF753CBC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71600"/>
            <a:ext cx="9071640" cy="5715000"/>
          </a:xfrm>
        </p:spPr>
        <p:txBody>
          <a:bodyPr>
            <a:normAutofit fontScale="55000" lnSpcReduction="20000"/>
          </a:bodyPr>
          <a:lstStyle/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; copy the value in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into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byte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ptr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[var], 5 ; store 5 into the byte at location var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] 	  ; Move the 4 bytes in memory at the address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; contained in EBX into EAX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[var],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	  ; Move the contents of EBX into the 4 bytes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; at memory address var.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; (Note, var is a 32-bit constant).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[esi-4] 	  ; Move 4 bytes at memory address ESI + (-4)  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; into EAX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esi+eax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], cl     ; Move the contents of CL into the byte at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; address ESI+EAX</a:t>
            </a:r>
          </a:p>
          <a:p>
            <a:pPr lvl="0"/>
            <a:endParaRPr lang="en-US" dirty="0">
              <a:solidFill>
                <a:srgbClr val="4700B8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4492-951A-B2A1-06F9-CB5ADD1851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</a:t>
            </a:r>
            <a:r>
              <a:rPr lang="en-US" dirty="0"/>
              <a:t>: access to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46B35-D50D-C4B4-E35D-401CD7B588F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143000"/>
            <a:ext cx="9071640" cy="5943600"/>
          </a:xfrm>
        </p:spPr>
        <p:txBody>
          <a:bodyPr>
            <a:normAutofit fontScale="70000" lnSpcReduction="20000"/>
          </a:bodyPr>
          <a:lstStyle/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struct point {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int x;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// x coordinate (4 bytes)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int y;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// y coordinate (4 bytes)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}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struct point points[128]; // array of 128 points</a:t>
            </a:r>
          </a:p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// load y coordinate of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 into y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int y = points[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].y;</a:t>
            </a:r>
          </a:p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address of the points array,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edx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+ 8*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+ 4]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Move y of 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     ; point into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edx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CC2C-6BE7-69DA-888A-FB463B8236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lea</a:t>
            </a:r>
            <a:r>
              <a:rPr lang="en-US" dirty="0"/>
              <a:t> load effective address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746B4-A6DC-8FEC-2AC3-BFCEFF02DE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lea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instruction places the address specified by its second operand into the register specified by its first operand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contents of the memory location are </a:t>
            </a:r>
            <a:r>
              <a:rPr 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loaded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only the effective address is computed and placed into the register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is useful for obtaining a pointer into a memory region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57E4-8F5E-F9C1-8689-B2085CB294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39486" y="301320"/>
            <a:ext cx="9336153" cy="1262160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lea</a:t>
            </a:r>
            <a:r>
              <a:rPr lang="en-US" dirty="0">
                <a:solidFill>
                  <a:srgbClr val="1B75BC"/>
                </a:solidFill>
              </a:rPr>
              <a:t> </a:t>
            </a:r>
            <a:r>
              <a:rPr lang="en-US" dirty="0"/>
              <a:t>vs </a:t>
            </a:r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</a:t>
            </a:r>
            <a:r>
              <a:rPr lang="en-US" dirty="0"/>
              <a:t> access to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B64F-DA4E-DB47-6960-C3254A4F76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426028"/>
            <a:ext cx="9071640" cy="5660571"/>
          </a:xfrm>
        </p:spPr>
        <p:txBody>
          <a:bodyPr>
            <a:normAutofit fontScale="55000" lnSpcReduction="20000"/>
          </a:bodyPr>
          <a:lstStyle/>
          <a:p>
            <a:pPr marL="685800" lvl="0" indent="-685800">
              <a:buSzPct val="100000"/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B75BC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// load y coordinate of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 into y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int y = points[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].y;</a:t>
            </a:r>
          </a:p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address of the points array,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edx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+ 8*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+ 4]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Move y of 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 into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edx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endParaRPr lang="en-US" dirty="0">
              <a:solidFill>
                <a:srgbClr val="94476B"/>
              </a:solidFill>
              <a:latin typeface="LMMono10" pitchFamily="17"/>
            </a:endParaRPr>
          </a:p>
          <a:p>
            <a:pPr marL="685800" lvl="0" indent="-685800">
              <a:buSzPct val="100000"/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B75BC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// load the address of the y coordinate of 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 into p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int *p = &amp;points[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].y;</a:t>
            </a:r>
          </a:p>
          <a:p>
            <a:pPr lvl="0"/>
            <a:endParaRPr lang="en-US" dirty="0">
              <a:solidFill>
                <a:srgbClr val="94476B"/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address of the points array,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is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esi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+ 8*</a:t>
            </a:r>
            <a:r>
              <a:rPr lang="en-US" dirty="0" err="1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+ 4]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Move address of y of 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i-th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point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                         ; into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esi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FiraMono Nerd Font" panose="020B0509050000020004" pitchFamily="49" charset="0"/>
              <a:ea typeface="FiraMono Nerd Font" panose="020B0509050000020004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1E8D-6EFD-7EDA-1617-1816B1DEC8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lea</a:t>
            </a:r>
            <a:r>
              <a:rPr lang="en-US" dirty="0"/>
              <a:t> is often used instead of add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B85B7-5BF4-7AC4-0EBF-09A70ABCB6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563480"/>
            <a:ext cx="9071640" cy="5523120"/>
          </a:xfrm>
        </p:spPr>
        <p:txBody>
          <a:bodyPr>
            <a:normAutofit fontScale="77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Compared to add, </a:t>
            </a:r>
            <a:r>
              <a:rPr lang="en-US" sz="4000" dirty="0"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lea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can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 addition with either two or three operands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store the result in any register; not just one of the source operands.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lvl="0"/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EAX, [ EAX + EBX + 1234567 ]</a:t>
            </a: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EAX = EAX + EBX + 1234567 (three operands)</a:t>
            </a:r>
          </a:p>
          <a:p>
            <a:pPr lvl="0"/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EAX, [ EBX + ECX ] ; EAX = EBX + ECX</a:t>
            </a: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Add without overriding EBX or ECX with the result</a:t>
            </a:r>
          </a:p>
          <a:p>
            <a:pPr lvl="0"/>
            <a:r>
              <a:rPr lang="en-US" sz="2900" dirty="0">
                <a:solidFill>
                  <a:srgbClr val="94476B"/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LEA EAX, [ EBX + N * EBX ] </a:t>
            </a:r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; multiplication by constant</a:t>
            </a: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(limited set, by 2, 3, 4, 5, 8, and 9 since N is</a:t>
            </a:r>
          </a:p>
          <a:p>
            <a:pPr lvl="0"/>
            <a:r>
              <a:rPr lang="en-US" sz="2900" dirty="0">
                <a:solidFill>
                  <a:schemeClr val="accent6">
                    <a:lumMod val="75000"/>
                  </a:schemeClr>
                </a:solidFill>
                <a:latin typeface="FiraMono Nerd Font" panose="020B0509050000020004" pitchFamily="49" charset="0"/>
                <a:ea typeface="FiraMono Nerd Font" panose="020B0509050000020004" pitchFamily="49" charset="0"/>
              </a:rPr>
              <a:t>  ; limited to 1,2,4, and 8).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DC71D79-59A0-3CA0-D813-52EF1FCA196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/>
              <a:t>Arithmetic and logic instructions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1A5C-89D2-A262-602F-73DB1C3AC8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add</a:t>
            </a:r>
            <a:r>
              <a:rPr lang="en-US"/>
              <a:t> Integer addition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2CF28-198F-A3BD-DABF-666A5C2F2EC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add</a:t>
            </a:r>
            <a:r>
              <a:rPr lang="en-US" dirty="0">
                <a:latin typeface="Liberation Sans" pitchFamily="34"/>
              </a:rPr>
              <a:t> instruction adds together its two operands, storing the result in its first operand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Both operands may be registers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At most one operand may be a memory location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&lt;reg&gt;,&lt;reg&gt;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&lt;reg&gt;,&lt;mem&gt;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&lt;mem&gt;,&lt;reg&gt;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&lt;reg&gt;,&lt;con&gt;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&lt;mem&gt;,&lt;con&gt;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BB52-2724-8E03-95C6-6A434A07A5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add</a:t>
            </a:r>
            <a:r>
              <a:rPr lang="en-US"/>
              <a:t>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994DF-F2FC-54E2-D82F-B3CE3F7B6CF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lvl="0"/>
            <a:endParaRPr lang="en-US" dirty="0">
              <a:solidFill>
                <a:srgbClr val="94476B"/>
              </a:solidFill>
              <a:latin typeface="LMMono10" pitchFamily="17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</a:t>
            </a:r>
            <a:r>
              <a:rPr lang="en-US" dirty="0" err="1">
                <a:solidFill>
                  <a:srgbClr val="94476B"/>
                </a:solidFill>
                <a:latin typeface="LMMono10" pitchFamily="17"/>
              </a:rPr>
              <a:t>eax</a:t>
            </a:r>
            <a:r>
              <a:rPr lang="en-US" dirty="0">
                <a:solidFill>
                  <a:srgbClr val="94476B"/>
                </a:solidFill>
                <a:latin typeface="LMMono10" pitchFamily="17"/>
              </a:rPr>
              <a:t>, 10 ; EAX ← EAX + 10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add BYTE PTR [var], 10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; add 10 to the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                                         ; single byte stored at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                                         ; memory address var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EC8F-AF1E-9C63-35EF-BD13A7A17B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sub</a:t>
            </a:r>
            <a:r>
              <a:rPr lang="en-US"/>
              <a:t> Integer subtraction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27632-FD04-052F-0887-0948B43560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sub</a:t>
            </a:r>
            <a:r>
              <a:rPr lang="en-US" dirty="0">
                <a:latin typeface="Liberation Sans" pitchFamily="34"/>
              </a:rPr>
              <a:t> instruction stores in the value of its first operand the result of subtracting the value of its second operand from the value of its first operand.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sub al, ah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; AL ← AL - AH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sub </a:t>
            </a:r>
            <a:r>
              <a:rPr lang="en-US" dirty="0" err="1">
                <a:solidFill>
                  <a:srgbClr val="94476B"/>
                </a:solidFill>
                <a:latin typeface="LMMono10" pitchFamily="17"/>
              </a:rPr>
              <a:t>eax</a:t>
            </a:r>
            <a:r>
              <a:rPr lang="en-US" dirty="0">
                <a:solidFill>
                  <a:srgbClr val="94476B"/>
                </a:solidFill>
                <a:latin typeface="LMMono10" pitchFamily="17"/>
              </a:rPr>
              <a:t>, 216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; subtract 216 from the value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                       ; stored in EAX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A98F4-D908-68FB-7796-05F6B9AAB6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inc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, </a:t>
            </a:r>
            <a:r>
              <a:rPr lang="en-US" dirty="0">
                <a:solidFill>
                  <a:srgbClr val="1B75BC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dec</a:t>
            </a:r>
            <a:r>
              <a:rPr lang="en-US" dirty="0"/>
              <a:t> Increment, decrement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03A98-0546-26FA-7BA8-D7199D2BDED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</a:t>
            </a:r>
            <a:r>
              <a:rPr lang="en-US" dirty="0" err="1">
                <a:solidFill>
                  <a:srgbClr val="1B75BC"/>
                </a:solidFill>
                <a:latin typeface="Liberation Sans" pitchFamily="34"/>
              </a:rPr>
              <a:t>inc</a:t>
            </a:r>
            <a:r>
              <a:rPr lang="en-US" dirty="0">
                <a:latin typeface="Liberation Sans" pitchFamily="34"/>
              </a:rPr>
              <a:t> instruction increments the contents of its operand by one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dec</a:t>
            </a:r>
            <a:r>
              <a:rPr lang="en-US" dirty="0">
                <a:latin typeface="Liberation Sans" pitchFamily="34"/>
              </a:rPr>
              <a:t> instruction decrements the contents of its operand by one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dec </a:t>
            </a:r>
            <a:r>
              <a:rPr lang="en-US" dirty="0" err="1">
                <a:solidFill>
                  <a:srgbClr val="94476B"/>
                </a:solidFill>
                <a:latin typeface="LMMono10" pitchFamily="17"/>
              </a:rPr>
              <a:t>eax</a:t>
            </a:r>
            <a:r>
              <a:rPr lang="en-US" dirty="0">
                <a:solidFill>
                  <a:srgbClr val="94476B"/>
                </a:solidFill>
                <a:latin typeface="LMMono10" pitchFamily="17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; subtract one from the contents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               ; of EAX</a:t>
            </a:r>
          </a:p>
          <a:p>
            <a:pPr lvl="0"/>
            <a:r>
              <a:rPr lang="en-US" dirty="0" err="1">
                <a:solidFill>
                  <a:srgbClr val="94476B"/>
                </a:solidFill>
                <a:latin typeface="LMMono10" pitchFamily="17"/>
              </a:rPr>
              <a:t>inc</a:t>
            </a:r>
            <a:r>
              <a:rPr lang="en-US" dirty="0">
                <a:solidFill>
                  <a:srgbClr val="94476B"/>
                </a:solidFill>
                <a:latin typeface="LMMono10" pitchFamily="17"/>
              </a:rPr>
              <a:t> DWORD PTR [var]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; add one to the 32-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                                       ; bit integer stored at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MMono10" pitchFamily="17"/>
              </a:rPr>
              <a:t>                                       ; location var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E7C9-E731-4B0C-CA65-1604F0BDEA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and, or, xor</a:t>
            </a:r>
            <a:r>
              <a:rPr lang="en-US"/>
              <a:t> Bitwise logical and, or, and exclusive 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538F1-24F8-AB3F-BE3E-D402E9581F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These instructions perform the specified logical operation (logical bitwise and, or, and exclusive or, respectively) on their operands, placing the result in the first operand location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and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0fH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clear all but the last 4</a:t>
            </a:r>
          </a:p>
          <a:p>
            <a:pPr lvl="0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; bits of EAX</a:t>
            </a:r>
          </a:p>
          <a:p>
            <a:pPr lvl="0"/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xor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edx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8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edx</a:t>
            </a:r>
            <a:r>
              <a:rPr lang="en-US" sz="28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set the contents of EDX to</a:t>
            </a:r>
          </a:p>
          <a:p>
            <a:pPr lvl="0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; zero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D0B8-6F90-C424-97FE-D9BD3302F0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  <a:latin typeface="Liberation Sans" pitchFamily="34"/>
              </a:rPr>
              <a:t>shl, shr </a:t>
            </a:r>
            <a:r>
              <a:rPr lang="en-US"/>
              <a:t>shift left, shift right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DC8A2-241F-D157-8B1F-8B0B1BD966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404257"/>
            <a:ext cx="9071640" cy="5682343"/>
          </a:xfrm>
        </p:spPr>
        <p:txBody>
          <a:bodyPr>
            <a:normAutofit fontScale="625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These instructions shift the bits in their first operand's contents left and right, padding the resulting empty bit positions with zeros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The shifted operand can be shifted up to 31 places. The number of bits to shift is specified by the second operand, which can be either an 8-bit constant or the register CL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In either case, shifts counts of greater then 31 are performed modulo 32.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shl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Multiply the value of EAX by 2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; (if the most significant bit is 0)</a:t>
            </a:r>
          </a:p>
          <a:p>
            <a:pPr lvl="0"/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shr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cl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Store in EBX the floor of result of dividing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; the value of EBX by 2^n</a:t>
            </a:r>
          </a:p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; where n is the value in CL.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5314-93A9-FDF0-05D0-35DFAED65E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More instructions… (similar)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19AF0-C797-5ACC-E0F2-7DF4E36672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 fontScale="925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Multiplication </a:t>
            </a:r>
            <a:r>
              <a:rPr lang="en-US" dirty="0" err="1">
                <a:solidFill>
                  <a:srgbClr val="1B75BC"/>
                </a:solidFill>
              </a:rPr>
              <a:t>imul</a:t>
            </a:r>
            <a:endParaRPr lang="en-US" dirty="0">
              <a:solidFill>
                <a:srgbClr val="1B75BC"/>
              </a:solidFill>
            </a:endParaRPr>
          </a:p>
          <a:p>
            <a:pPr lvl="0"/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imul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[var]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multiply the contents of EAX by the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; 32-bit contents of the memory </a:t>
            </a:r>
          </a:p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location var. Store result in EAX</a:t>
            </a:r>
          </a:p>
          <a:p>
            <a:pPr lvl="0"/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imul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esi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edi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25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ESI ← EDI * 25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Division </a:t>
            </a:r>
            <a:r>
              <a:rPr lang="en-US" dirty="0" err="1">
                <a:solidFill>
                  <a:srgbClr val="1B75BC"/>
                </a:solidFill>
              </a:rPr>
              <a:t>idiv</a:t>
            </a:r>
            <a:endParaRPr lang="en-US" dirty="0">
              <a:solidFill>
                <a:srgbClr val="1B75BC"/>
              </a:solidFill>
            </a:endParaRP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75BC"/>
                </a:solidFill>
              </a:rPr>
              <a:t>not</a:t>
            </a:r>
            <a:r>
              <a:rPr lang="en-US" dirty="0"/>
              <a:t> - </a:t>
            </a:r>
            <a:r>
              <a:rPr lang="en-US" dirty="0" err="1"/>
              <a:t>bitvise</a:t>
            </a:r>
            <a:r>
              <a:rPr lang="en-US" dirty="0"/>
              <a:t> logical not (flips all bits)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75BC"/>
                </a:solidFill>
              </a:rPr>
              <a:t>neg</a:t>
            </a:r>
            <a:r>
              <a:rPr lang="en-US" dirty="0"/>
              <a:t> - negation</a:t>
            </a: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None/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neg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EAX ← - EAX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6B23-1C2A-31B1-8B92-3F9A28B7CE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This is enough to do arithmetic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FA738-9FAA-5DB1-C556-46FBB81060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E8735-9AD0-8723-4CDA-7D417D77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7264-BF58-C612-D6E9-1D1136DD07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Q1: What is inside </a:t>
            </a:r>
            <a:r>
              <a:rPr lang="en-US" dirty="0" err="1"/>
              <a:t>ebx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869A6-3803-A207-A5CE-0709578D4C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After we execute the mov instruction?</a:t>
            </a:r>
            <a:endParaRPr lang="en-US" dirty="0">
              <a:solidFill>
                <a:srgbClr val="1B75BC"/>
              </a:solidFill>
            </a:endParaRP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2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3</a:t>
            </a:r>
          </a:p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what is the value of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here? 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DC96E-1FF1-004A-E3C9-D4BF23EBA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09" y="4413068"/>
            <a:ext cx="2543556" cy="254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07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BAC79-1483-B1B6-987D-1EF6E5FA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196E-51D9-4E3E-DCD7-8C6FD302C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1317E-8012-98BD-37BB-4BEB065F9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lrCccnGm68FB3B7E5O6Sj?state=opened&amp;flow=Default&amp;onscreen=persist">
            <a:extLst>
              <a:ext uri="{FF2B5EF4-FFF2-40B4-BE49-F238E27FC236}">
                <a16:creationId xmlns:a16="http://schemas.microsoft.com/office/drawing/2014/main" id="{44E07545-850B-45E5-D608-62AA7A062DE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9953625" cy="74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260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A98F-1D20-54E9-BAF3-ACC0AD910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5856-F368-4086-0805-38B25E6590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Q2: What is this instruction doing?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DA6AA-E6D1-C8CC-DF67-875928FE0F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 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Is it writing memory? Or reading it?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7332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0C27-0E58-4DAA-8F23-D53DB91DC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EEE06-1044-2C72-8689-057136B965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Nu5xKXhHLrsm0NopeA8pm?state=opened&amp;flow=Default&amp;onscreen=persist">
            <a:extLst>
              <a:ext uri="{FF2B5EF4-FFF2-40B4-BE49-F238E27FC236}">
                <a16:creationId xmlns:a16="http://schemas.microsoft.com/office/drawing/2014/main" id="{982043F8-8697-4B6D-A2AA-8F33FA9B59A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9953625" cy="74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769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7C08C-114E-AF99-55BA-C248DAFB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0EEC-5024-3A11-9EC3-E540233D1B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Q3: Is this a legal instruction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379CF-3933-FBBC-CACE-3FCF6DA495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],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28941543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D90B-CBA0-EB3A-0FCE-FB9239326A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A2FC0-5A8B-1A00-2DF5-B57A1B58A5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kDWvtqhRVLbMKc48fwMVg?state=opened&amp;flow=Default&amp;onscreen=persist">
            <a:extLst>
              <a:ext uri="{FF2B5EF4-FFF2-40B4-BE49-F238E27FC236}">
                <a16:creationId xmlns:a16="http://schemas.microsoft.com/office/drawing/2014/main" id="{907311AB-10D5-8C2A-FCF0-7FFE121B623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9953625" cy="74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893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9CFE494-FB9D-E468-CDD9-9C917EC043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400"/>
              <a:t>Control flow instructions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B6FF2E-5AD8-C934-39C7-2FD32E5C5D9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0"/>
            <a:ext cx="4518000" cy="75596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2113457-F347-0CB4-D7FF-FBE814A50D55}"/>
              </a:ext>
            </a:extLst>
          </p:cNvPr>
          <p:cNvSpPr/>
          <p:nvPr/>
        </p:nvSpPr>
        <p:spPr>
          <a:xfrm>
            <a:off x="558000" y="5562360"/>
            <a:ext cx="2413800" cy="19814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FF3333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ADAAD4EF-A26C-A16D-E57C-9C23A4E47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280" y="49356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0CB4A6-971C-2488-F8DE-AA7FA1EE672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172200" y="1636200"/>
            <a:ext cx="804240" cy="94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DED1-8DF0-A2B5-D900-ED68A900E6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EIP instruction pointer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BDC51-FD96-7BC5-43A9-C7B88AF876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EIP is a 32bit value indicating the location in memory where the current instruction starts (i.e., memory address of the instruction)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EIP cannot be changed directly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Normally, it increments to point to the next instruction in memory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But it can be updated implicitly by provided control flow instructions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94476B"/>
              </a:solidFill>
              <a:latin typeface="Liberation Sans" pitchFamily="34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B087-4A92-D83A-31C4-2F7E556175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Labels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310C9-7D6C-F5F4-9179-51A4EBF7EB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 &lt;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label</a:t>
            </a:r>
            <a:r>
              <a:rPr lang="en-US" dirty="0">
                <a:latin typeface="Liberation Sans" pitchFamily="34"/>
              </a:rPr>
              <a:t>&gt; refers to a labeled location in the program text (code).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Labels can be inserted anywhere in x86 assembly code text by entering a label name followed by a colon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Examples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LMMono10" pitchFamily="17"/>
              </a:rPr>
              <a:t>                  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esi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[ebp+8]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begin: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xor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ecx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ecx</a:t>
            </a:r>
            <a:endParaRPr lang="en-US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mov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esi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60F1-C97B-4DB0-3EE9-E64654B13B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jump</a:t>
            </a:r>
            <a:r>
              <a:rPr lang="en-US"/>
              <a:t>: jump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67C23-652E-D5CE-790B-E33E8BA41E9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925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Transfers program control flow to the instruction at the memory location indicated by the operand.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>
              <a:buSzPct val="100000"/>
            </a:pPr>
            <a:r>
              <a:rPr lang="en-US" dirty="0">
                <a:solidFill>
                  <a:srgbClr val="94476B"/>
                </a:solidFill>
                <a:latin typeface="LMMono10" pitchFamily="17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LMMono10" pitchFamily="17"/>
              </a:rPr>
              <a:t>jmp</a:t>
            </a:r>
            <a:r>
              <a:rPr lang="en-US" dirty="0">
                <a:solidFill>
                  <a:srgbClr val="94476B"/>
                </a:solidFill>
                <a:latin typeface="LMMono10" pitchFamily="17"/>
              </a:rPr>
              <a:t> &lt;label&gt;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begin: 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xor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ecx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ecx</a:t>
            </a:r>
            <a:endParaRPr lang="en-US" sz="2600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...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</a:t>
            </a:r>
            <a:r>
              <a:rPr lang="en-US" sz="26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jmp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begin ; jump to instruction labeled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; begin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2A28-1993-CA48-4500-2AD688B958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j</a:t>
            </a:r>
            <a:r>
              <a:rPr lang="en-US" i="1">
                <a:solidFill>
                  <a:srgbClr val="1B75BC"/>
                </a:solidFill>
              </a:rPr>
              <a:t>condition</a:t>
            </a:r>
            <a:r>
              <a:rPr lang="en-US"/>
              <a:t>: conditional jump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1507B-68F8-C0AC-DD97-2F48878FB3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700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Jumps only if a condition is true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The status of a set of condition codes that are stored in a special register (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EFLAGS</a:t>
            </a:r>
            <a:r>
              <a:rPr lang="en-US" sz="3200" dirty="0">
                <a:latin typeface="Liberation Sans" pitchFamily="34"/>
              </a:rPr>
              <a:t>)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EFLAGS</a:t>
            </a:r>
            <a:r>
              <a:rPr lang="en-US" sz="3200" dirty="0">
                <a:latin typeface="Liberation Sans" pitchFamily="34"/>
              </a:rPr>
              <a:t> stores information about the last arithmetic operation </a:t>
            </a:r>
            <a:r>
              <a:rPr lang="en-US" sz="3200" dirty="0" err="1">
                <a:latin typeface="Liberation Sans" pitchFamily="34"/>
              </a:rPr>
              <a:t>performedm</a:t>
            </a:r>
            <a:r>
              <a:rPr lang="en-US" sz="3200" dirty="0">
                <a:latin typeface="Liberation Sans" pitchFamily="34"/>
              </a:rPr>
              <a:t> for example,</a:t>
            </a:r>
          </a:p>
          <a:p>
            <a:pPr marL="457200" lvl="2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Bit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6</a:t>
            </a:r>
            <a:r>
              <a:rPr lang="en-US" sz="3200" dirty="0">
                <a:latin typeface="Liberation Sans" pitchFamily="34"/>
              </a:rPr>
              <a:t> of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EFLAGS</a:t>
            </a:r>
            <a:r>
              <a:rPr lang="en-US" sz="3200" dirty="0">
                <a:latin typeface="Liberation Sans" pitchFamily="34"/>
              </a:rPr>
              <a:t> indicates if the last result was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zero</a:t>
            </a:r>
          </a:p>
          <a:p>
            <a:pPr marL="457200" lvl="2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Bit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7</a:t>
            </a:r>
            <a:r>
              <a:rPr lang="en-US" sz="3200" dirty="0">
                <a:latin typeface="Liberation Sans" pitchFamily="34"/>
              </a:rPr>
              <a:t> indicates if the last result was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negative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Based on these bits, different conditional jumps can be performed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For example, the </a:t>
            </a:r>
            <a:r>
              <a:rPr lang="en-US" sz="3200" dirty="0" err="1">
                <a:solidFill>
                  <a:srgbClr val="1B75BC"/>
                </a:solidFill>
                <a:latin typeface="Liberation Sans" pitchFamily="34"/>
              </a:rPr>
              <a:t>jz</a:t>
            </a:r>
            <a:r>
              <a:rPr lang="en-US" sz="3200" dirty="0">
                <a:latin typeface="Liberation Sans" pitchFamily="34"/>
              </a:rPr>
              <a:t> instruction performs a jump to the specified operand label if the result of the last arithmetic operation was </a:t>
            </a:r>
            <a:r>
              <a:rPr lang="en-US" sz="3200" dirty="0">
                <a:solidFill>
                  <a:srgbClr val="1B75BC"/>
                </a:solidFill>
                <a:latin typeface="Liberation Sans" pitchFamily="34"/>
              </a:rPr>
              <a:t>zero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Otherwise, control proceeds to the next instruction in sequence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3274-2B4C-D72A-BB4F-ECABB79F9E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Conditional jumps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D2809-4CBE-D73B-D98D-D013ACE229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550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Most conditional jump follow the comparison instruction (</a:t>
            </a:r>
            <a:r>
              <a:rPr lang="en-US" dirty="0" err="1">
                <a:latin typeface="Liberation Sans" pitchFamily="34"/>
              </a:rPr>
              <a:t>cmp</a:t>
            </a:r>
            <a:r>
              <a:rPr lang="en-US" dirty="0">
                <a:latin typeface="Liberation Sans" pitchFamily="34"/>
              </a:rPr>
              <a:t>, we’ll cover it below)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je &lt;label&gt; (jump when equal)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jne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not equal)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jz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last result was zero)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jg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greater than)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jge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greater than or equal to)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jl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less than)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jle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&lt;label&gt; (jump when less than or equal to)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Example:  if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EAX</a:t>
            </a:r>
            <a:r>
              <a:rPr lang="en-US" dirty="0">
                <a:latin typeface="Liberation Sans" pitchFamily="34"/>
              </a:rPr>
              <a:t> is less than or equal to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EBX</a:t>
            </a:r>
            <a:r>
              <a:rPr lang="en-US" dirty="0">
                <a:latin typeface="Liberation Sans" pitchFamily="34"/>
              </a:rPr>
              <a:t>, jump to the label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done</a:t>
            </a:r>
            <a:r>
              <a:rPr lang="en-US" dirty="0">
                <a:latin typeface="Liberation Sans" pitchFamily="34"/>
              </a:rPr>
              <a:t>. Otherwise, continue to the next instruction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endParaRPr lang="en-US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jle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done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03C5-DB80-1A79-5B78-C55291CF53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B75BC"/>
                </a:solidFill>
              </a:rPr>
              <a:t>cmp</a:t>
            </a:r>
            <a:r>
              <a:rPr lang="en-US"/>
              <a:t>: compare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329FE-280D-11EC-B446-6D07185242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17560"/>
          </a:xfrm>
        </p:spPr>
        <p:txBody>
          <a:bodyPr>
            <a:normAutofit fontScale="625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Compare the values of the two specified operands, setting the condition codes in EFLAGS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34"/>
              </a:rPr>
              <a:t>This instruction is equivalent to the </a:t>
            </a:r>
            <a:r>
              <a:rPr lang="en-US" sz="3200" dirty="0">
                <a:solidFill>
                  <a:srgbClr val="0070C0"/>
                </a:solidFill>
                <a:latin typeface="Liberation Sans" pitchFamily="34"/>
              </a:rPr>
              <a:t>sub</a:t>
            </a:r>
            <a:r>
              <a:rPr lang="en-US" sz="3200" dirty="0">
                <a:latin typeface="Liberation Sans" pitchFamily="34"/>
              </a:rPr>
              <a:t> instruction, except the result of the subtraction is discarded instead of replacing the first operand.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Syntax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&lt;reg&gt;,&lt;reg&gt;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&lt;reg&gt;,&lt;mem&gt;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&lt;mem&gt;,&lt;reg&gt;</a:t>
            </a:r>
          </a:p>
          <a:p>
            <a:pPr lvl="0">
              <a:buSzPct val="45000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&lt;reg&gt;,&lt;con&gt;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Liberation Sans" pitchFamily="34"/>
              </a:rPr>
              <a:t>Example:  if the 4 bytes stored at location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var</a:t>
            </a:r>
            <a:r>
              <a:rPr lang="en-US" dirty="0">
                <a:latin typeface="Liberation Sans" pitchFamily="34"/>
              </a:rPr>
              <a:t> are equal to the 4-byte integer constant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10</a:t>
            </a:r>
            <a:r>
              <a:rPr lang="en-US" dirty="0">
                <a:latin typeface="Liberation Sans" pitchFamily="34"/>
              </a:rPr>
              <a:t>, jump to the location labeled </a:t>
            </a:r>
            <a:r>
              <a:rPr lang="en-US" dirty="0">
                <a:solidFill>
                  <a:srgbClr val="1B75BC"/>
                </a:solidFill>
                <a:latin typeface="Liberation Sans" pitchFamily="34"/>
              </a:rPr>
              <a:t>loop</a:t>
            </a:r>
            <a:r>
              <a:rPr lang="en-US" dirty="0">
                <a:latin typeface="Liberation Sans" pitchFamily="34"/>
              </a:rPr>
              <a:t>.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cmp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DWORD PTR [var], 10</a:t>
            </a:r>
          </a:p>
          <a:p>
            <a:pPr lvl="0"/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jeq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loop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A414-BC84-F69A-6FBC-105AD4F2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E882-F8CE-B564-36F6-65BB94FE9D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Q1: What is inside </a:t>
            </a:r>
            <a:r>
              <a:rPr lang="en-US" dirty="0" err="1"/>
              <a:t>ebx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DC98F-EDB7-421A-CC4E-B903F57574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After we execute the mov instruction?</a:t>
            </a:r>
            <a:endParaRPr lang="en-US" dirty="0">
              <a:solidFill>
                <a:srgbClr val="1B75BC"/>
              </a:solidFill>
            </a:endParaRP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2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3</a:t>
            </a:r>
          </a:p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what is the value of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here? 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679AA-58C0-0DF2-C16C-E541400F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09" y="4413068"/>
            <a:ext cx="2543556" cy="254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29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67DC-5AFD-53DB-291D-4D28B410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93C7-37DE-28EC-9FFE-C5B51A856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B8512-459E-2B29-A5FF-88B84552B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lrCccnGm68FB3B7E5O6Sj?state=opened&amp;flow=Default&amp;onscreen=persist">
            <a:extLst>
              <a:ext uri="{FF2B5EF4-FFF2-40B4-BE49-F238E27FC236}">
                <a16:creationId xmlns:a16="http://schemas.microsoft.com/office/drawing/2014/main" id="{F18A81E8-17C1-70A1-D3EB-612B954041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9953625" cy="74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978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5CA9-EB4F-899C-760B-53F1BC64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A7A0-BC68-E1FA-20EA-3B8114A4CDB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Q2: What is this instruction doing?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22403-81A8-1411-1954-E24F8484525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 </a:t>
            </a:r>
          </a:p>
          <a:p>
            <a:pPr lvl="0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Is it writing memory? Or reading it?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0776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24A6-9192-3004-8053-6D01D7D9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F9EA-938D-2BA5-3910-56FF83B0C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90DA5-1464-F1FE-8FEF-E5B7C05EF9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Nu5xKXhHLrsm0NopeA8pm?state=opened&amp;flow=Default&amp;onscreen=persist">
            <a:extLst>
              <a:ext uri="{FF2B5EF4-FFF2-40B4-BE49-F238E27FC236}">
                <a16:creationId xmlns:a16="http://schemas.microsoft.com/office/drawing/2014/main" id="{E8EFB721-8872-FD80-7C9D-33B679D97D0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9953625" cy="74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505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57FE-74E8-6EF1-2048-A8C8CDBB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D945-9B42-2917-BC97-7D5A06D7CD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Q3: Is this a legal instruction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5CE7A-FD4D-F88C-3EB3-36501679B65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ebx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], [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eax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24818338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2910-F588-D61D-F5ED-9E5641BC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B26D-CC30-2DFE-7792-3CE963035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3FF82-E999-9CC2-454C-3F49086D4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kDWvtqhRVLbMKc48fwMVg?state=opened&amp;flow=Default&amp;onscreen=persist">
            <a:extLst>
              <a:ext uri="{FF2B5EF4-FFF2-40B4-BE49-F238E27FC236}">
                <a16:creationId xmlns:a16="http://schemas.microsoft.com/office/drawing/2014/main" id="{3066E591-6803-6177-BBF6-329CBA95A93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9953625" cy="74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827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4EE0693-4993-7691-8599-732B49EB4C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800"/>
              <a:t>Stack and procedure calls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291BE81-DD91-8451-498D-85EE3E06F0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5400"/>
              <a:t>What is stack?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9190C6-48D8-62AF-A1BB-7932A08F764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03640" y="111600"/>
            <a:ext cx="4885560" cy="73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9E2C004-DCA1-48B8-A08C-9913EC55D0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5211000" cy="1262160"/>
          </a:xfrm>
        </p:spPr>
        <p:txBody>
          <a:bodyPr/>
          <a:lstStyle/>
          <a:p>
            <a:pPr lvl="0"/>
            <a:r>
              <a:rPr lang="en-US" dirty="0"/>
              <a:t>Stack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57986-E441-C809-49E8-2E5AA9BADD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It's just a region of memory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Pointed by a special register </a:t>
            </a:r>
            <a:r>
              <a:rPr lang="en-US" sz="3200" dirty="0">
                <a:solidFill>
                  <a:srgbClr val="0070C0"/>
                </a:solidFill>
                <a:latin typeface="Liberation Sans" pitchFamily="18"/>
              </a:rPr>
              <a:t>ESP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You can change </a:t>
            </a:r>
            <a:r>
              <a:rPr lang="en-US" dirty="0">
                <a:solidFill>
                  <a:srgbClr val="0070C0"/>
                </a:solidFill>
              </a:rPr>
              <a:t>ESP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Get a new stack</a:t>
            </a: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endParaRPr lang="en-US" sz="3200" dirty="0">
              <a:latin typeface="Liberation Sans" pitchFamily="1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5B9B0-BE00-FD15-AF73-014D7A10238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60840" y="225540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4E998-FD4C-0B11-B0CE-B9AED202B0B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5388840" y="1380960"/>
            <a:ext cx="822600" cy="55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20D5FA-4E8D-96A0-21D0-EEA13C9A6C0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289560" y="5824800"/>
            <a:ext cx="2120760" cy="133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F3D842-6EF7-9702-9AEF-C7D6F1C61EA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388840" y="1380960"/>
            <a:ext cx="804240" cy="591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1D496CA-591A-8ADA-BA64-B2B8CC1337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400"/>
              <a:t>Why do we need stack?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70C1-7EC3-DAED-88D6-5698681E1B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Calling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BF8DA-AA18-CDBF-8D95-9949286740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426920" cy="4384440"/>
          </a:xfrm>
        </p:spPr>
        <p:txBody>
          <a:bodyPr>
            <a:normAutofit fontScale="92500" lnSpcReduction="20000"/>
          </a:bodyPr>
          <a:lstStyle/>
          <a:p>
            <a:pPr lvl="0"/>
            <a:endParaRPr lang="en-US" dirty="0"/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// some code...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foo();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// more code..</a:t>
            </a:r>
          </a:p>
          <a:p>
            <a:pPr lvl="0"/>
            <a:endParaRPr lang="en-US" dirty="0"/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Stack contains information for </a:t>
            </a:r>
            <a:r>
              <a:rPr lang="en-US" dirty="0">
                <a:solidFill>
                  <a:srgbClr val="1B75BC"/>
                </a:solidFill>
              </a:rPr>
              <a:t>how to return</a:t>
            </a:r>
            <a:r>
              <a:rPr lang="en-US" dirty="0"/>
              <a:t> from a subroutine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i.e., from foo()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C54D3-76C6-A392-2953-D9A3603CE1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769040"/>
            <a:ext cx="4426920" cy="4384440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Functions can be called from different places in the program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</a:rPr>
              <a:t>       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if (a == 0) {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foo();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…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} else {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foo();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…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45D2-E11E-DE5C-F425-8C259F1270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7179A-2275-2EE4-F4AF-7DFDB3C537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Main purpose: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Store the return address for the current procedure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Caller</a:t>
            </a:r>
            <a:r>
              <a:rPr lang="en-US" sz="3200" dirty="0">
                <a:latin typeface="Liberation Sans" pitchFamily="18"/>
              </a:rPr>
              <a:t> pushes return address on the stack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Callee</a:t>
            </a:r>
            <a:r>
              <a:rPr lang="en-US" sz="3200" dirty="0">
                <a:latin typeface="Liberation Sans" pitchFamily="18"/>
              </a:rPr>
              <a:t> pops it and jumps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F17E21E0-9C09-E757-BC17-40501ADA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3DF66E-D75D-F2D2-C57D-E9107DCF161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D6641-B242-33BA-30CA-E470FE2A09D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273680"/>
            <a:ext cx="822600" cy="68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4709-247E-D02F-9248-EC3ED7D1E5F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172200" y="1636560"/>
            <a:ext cx="804240" cy="29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9152CF-27AE-587A-B6BA-CC5F8616F6B3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012440" y="1389240"/>
            <a:ext cx="2111760" cy="47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D7B5E6-0F33-54BE-31E9-E6BDD1EDDC1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8229600" y="1610640"/>
            <a:ext cx="1245960" cy="158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39142B-37D3-C0C7-6FB5-0200F72D0CF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172200" y="1246680"/>
            <a:ext cx="822600" cy="24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55EA-89F2-D883-440A-361DA2E148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1BF02-EFB7-8719-D848-1AC05B4E92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Main purpose: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Store the return address for the current procedure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Caller</a:t>
            </a:r>
            <a:r>
              <a:rPr lang="en-US" sz="3200" dirty="0">
                <a:latin typeface="Liberation Sans" pitchFamily="18"/>
              </a:rPr>
              <a:t> pushes return address on the stack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Callee</a:t>
            </a:r>
            <a:r>
              <a:rPr lang="en-US" sz="3200" dirty="0">
                <a:latin typeface="Liberation Sans" pitchFamily="18"/>
              </a:rPr>
              <a:t> pops it and jumps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F17DC4C6-8143-178C-6F6D-C775898D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14706C-D238-A4FF-A823-E8380B05808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156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12E95A-72E9-2E3E-4AAC-012E9F4ECA6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310040"/>
            <a:ext cx="822600" cy="61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E4C91E-429B-08F5-2DD3-B45DEFAD799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172200" y="1636560"/>
            <a:ext cx="804240" cy="407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D7B75-6B52-6EB5-3350-9875366D636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032240" y="1371600"/>
            <a:ext cx="2111760" cy="47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F4130B-D85C-17AD-5107-037E71C8A273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8229600" y="1600200"/>
            <a:ext cx="124596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DBDBB4-E4B2-15A0-36E7-FF9BA6DF43F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172200" y="1251000"/>
            <a:ext cx="822600" cy="24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"/>
                            </p:stCondLst>
                            <p:childTnLst>
                              <p:par>
                                <p:cTn id="15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"/>
                            </p:stCondLst>
                            <p:childTnLst>
                              <p:par>
                                <p:cTn id="18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2"/>
                            </p:stCondLst>
                            <p:childTnLst>
                              <p:par>
                                <p:cTn id="2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177F-590C-CB99-55FC-46439AD3BF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Call/return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C047F-2053-7773-FFCF-6E8DD11FA3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989240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75BC"/>
                </a:solidFill>
              </a:rPr>
              <a:t>CALL</a:t>
            </a:r>
            <a:r>
              <a:rPr lang="en-US" dirty="0"/>
              <a:t> instruction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Makes an unconditional jump to a subprogram and pushes the address of the next instruction on the stack</a:t>
            </a:r>
          </a:p>
          <a:p>
            <a:pPr lvl="0">
              <a:buSzPct val="100000"/>
            </a:pPr>
            <a:r>
              <a:rPr lang="en-US" dirty="0">
                <a:solidFill>
                  <a:srgbClr val="993366"/>
                </a:solidFill>
                <a:latin typeface="LM Mono 10" pitchFamily="17"/>
              </a:rPr>
              <a:t>     </a:t>
            </a:r>
            <a:r>
              <a:rPr lang="en-US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push </a:t>
            </a:r>
            <a:r>
              <a:rPr lang="en-US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eip</a:t>
            </a:r>
            <a:r>
              <a:rPr lang="en-US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+ </a:t>
            </a:r>
            <a:r>
              <a:rPr lang="en-US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sizeof</a:t>
            </a:r>
            <a:r>
              <a:rPr lang="en-US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(CALL)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save return  </a:t>
            </a:r>
          </a:p>
          <a:p>
            <a:pPr lvl="0">
              <a:buSzPct val="1000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      ; address</a:t>
            </a:r>
          </a:p>
          <a:p>
            <a:pPr lvl="0">
              <a:buSzPct val="100000"/>
            </a:pPr>
            <a:r>
              <a:rPr lang="en-US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</a:t>
            </a:r>
            <a:r>
              <a:rPr lang="en-US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jmp</a:t>
            </a:r>
            <a:r>
              <a:rPr lang="en-US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_</a:t>
            </a:r>
            <a:r>
              <a:rPr lang="en-US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endParaRPr lang="en-US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75BC"/>
                </a:solidFill>
              </a:rPr>
              <a:t>RET</a:t>
            </a:r>
            <a:r>
              <a:rPr lang="en-US" dirty="0"/>
              <a:t> instruction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Pops off an address and jumps to that address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0EF5-586B-865A-C5BF-D55EAF4C317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09383-780E-0DDC-0A84-2D085D18EF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Other uses: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Local data storage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Parameter passing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Evaluation stack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Register spill</a:t>
            </a:r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5BB5A293-4828-3976-59EE-E7B4F89F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D549F-FA5E-A1FD-5E07-28E9C7162A8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56B468-C2BB-04F3-6CF0-AD33B18CA6E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310040"/>
            <a:ext cx="822600" cy="64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CE80-3B66-FE6E-2220-D59CD275A8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Manipulating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62BEF-0A4B-C03F-FEB8-911582D824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068000" cy="4989240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75BC"/>
                </a:solidFill>
              </a:rPr>
              <a:t>ESP</a:t>
            </a:r>
            <a:r>
              <a:rPr lang="en-US" dirty="0"/>
              <a:t> register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Contains the memory address of the topmost element in the stack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75BC"/>
                </a:solidFill>
              </a:rPr>
              <a:t>PUSH</a:t>
            </a:r>
            <a:r>
              <a:rPr lang="en-US" dirty="0"/>
              <a:t> instruction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push 0xBAR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90000"/>
              </a:solidFill>
              <a:latin typeface="LM Mono 10" pitchFamily="17"/>
            </a:endParaRP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Subtract 4 from ESP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Insert data on the stack</a:t>
            </a: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endParaRPr lang="en-US" sz="3200" dirty="0">
              <a:latin typeface="Liberation Sans" pitchFamily="1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51B92-6097-C4CB-4095-F85B149792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5B5630-3A0B-1A23-6091-EEDAB7E1834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400" y="1371600"/>
            <a:ext cx="822600" cy="24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366B8-D92B-E5BB-9452-153E1CF690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85560" cy="73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8FCF0-F20A-306F-D5B4-4E659F334E2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400" y="1457640"/>
            <a:ext cx="82260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0D1F4-469C-CFDC-6930-7A82794FA74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330240" y="1524240"/>
            <a:ext cx="2105640" cy="47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6EC4BE-1B97-DF78-A40E-DA67603405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520"/>
            <a:ext cx="804240" cy="14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0948-C980-0DCE-1DE5-17036073DD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Manipulating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5562E-43FA-2702-4C0A-3DB7592518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068000" cy="49892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75BC"/>
                </a:solidFill>
              </a:rPr>
              <a:t>POP</a:t>
            </a:r>
            <a:r>
              <a:rPr lang="en-US" dirty="0"/>
              <a:t> instruction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pop EAX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90000"/>
              </a:solidFill>
              <a:latin typeface="LM Mono 10" pitchFamily="17"/>
            </a:endParaRP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Removes data from the stack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Saves in register or memory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Adds 4 to ESP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26723-ED86-6C14-B248-018FD214741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EC873A-CDE9-F3A9-E8DF-8D65B9D7F70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400" y="1371600"/>
            <a:ext cx="822600" cy="24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DF6C5-BAC7-171D-EF9C-0F760CE26DB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85560" cy="73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79491C-9557-3CA8-DBED-582E95FCC56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400" y="1457640"/>
            <a:ext cx="82260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2A5081-C971-D8AF-CB08-A63DF4723AA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330240" y="1524240"/>
            <a:ext cx="2105640" cy="47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091C4C-834C-D90E-9EED-E2D948BA8F3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14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064C36-5215-6702-4D31-87387137EA8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4717800" y="5333760"/>
            <a:ext cx="1349640" cy="15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"/>
                            </p:stCondLst>
                            <p:childTnLst>
                              <p:par>
                                <p:cTn id="18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A397D1B-A9C9-6344-FAB8-1C00E5220CB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400"/>
              <a:t>Thank you!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7AEE-F4C3-3754-4DE3-FBC9E57E05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Some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FF38B-5863-442E-E5DB-BBA3C56A39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11002</TotalTime>
  <Words>5451</Words>
  <Application>Microsoft Macintosh PowerPoint</Application>
  <PresentationFormat>Custom</PresentationFormat>
  <Paragraphs>756</Paragraphs>
  <Slides>106</Slides>
  <Notes>102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7" baseType="lpstr">
      <vt:lpstr>Arial</vt:lpstr>
      <vt:lpstr>Calibri</vt:lpstr>
      <vt:lpstr>Consolas</vt:lpstr>
      <vt:lpstr>FiraMono Nerd Font</vt:lpstr>
      <vt:lpstr>FiraMono Nerd Font Mono</vt:lpstr>
      <vt:lpstr>Liberation Sans</vt:lpstr>
      <vt:lpstr>Liberation Serif</vt:lpstr>
      <vt:lpstr>LM Mono 10</vt:lpstr>
      <vt:lpstr>LMMono10</vt:lpstr>
      <vt:lpstr>StarSymbol</vt:lpstr>
      <vt:lpstr>Default</vt:lpstr>
      <vt:lpstr>cs5460/6460 Operating Systems Lecture 03: x86 instruction set</vt:lpstr>
      <vt:lpstr>PowerPoint Presentation</vt:lpstr>
      <vt:lpstr>CPU execution loop</vt:lpstr>
      <vt:lpstr>PowerPoint Presentation</vt:lpstr>
      <vt:lpstr>PowerPoint Presentation</vt:lpstr>
      <vt:lpstr>Note</vt:lpstr>
      <vt:lpstr>x86 instruction set</vt:lpstr>
      <vt:lpstr>x86 instruction set</vt:lpstr>
      <vt:lpstr>PowerPoint Presentation</vt:lpstr>
      <vt:lpstr>PowerPoint Presentation</vt:lpstr>
      <vt:lpstr>BTW, where are these registers?</vt:lpstr>
      <vt:lpstr>Registers and Memory</vt:lpstr>
      <vt:lpstr>PowerPoint Presentation</vt:lpstr>
      <vt:lpstr>Declaring static data regions</vt:lpstr>
      <vt:lpstr>Arrays</vt:lpstr>
      <vt:lpstr>PowerPoint Presentation</vt:lpstr>
      <vt:lpstr>We use the following notation</vt:lpstr>
      <vt:lpstr>mov instruciton</vt:lpstr>
      <vt:lpstr>mov examples</vt:lpstr>
      <vt:lpstr>mov: access to data structures</vt:lpstr>
      <vt:lpstr>lea load effective address</vt:lpstr>
      <vt:lpstr>lea vs mov access to data structures</vt:lpstr>
      <vt:lpstr>lea is often used instead of add</vt:lpstr>
      <vt:lpstr>PowerPoint Presentation</vt:lpstr>
      <vt:lpstr>add Integer addition</vt:lpstr>
      <vt:lpstr>add examples</vt:lpstr>
      <vt:lpstr>sub Integer subtraction</vt:lpstr>
      <vt:lpstr>inc, dec Increment, decrement</vt:lpstr>
      <vt:lpstr>and, or, xor Bitwise logical and, or, and exclusive or</vt:lpstr>
      <vt:lpstr>shl, shr shift left, shift right</vt:lpstr>
      <vt:lpstr>More instructions… (similar)</vt:lpstr>
      <vt:lpstr>This is enough to do arithmetic</vt:lpstr>
      <vt:lpstr>Poll Q1: What is inside rbx?</vt:lpstr>
      <vt:lpstr>Poll Q2: What is this instruction doing?</vt:lpstr>
      <vt:lpstr>Poll Q3: Is this a legal instruction</vt:lpstr>
      <vt:lpstr>PowerPoint Presentation</vt:lpstr>
      <vt:lpstr>PowerPoint Presentation</vt:lpstr>
      <vt:lpstr>RIP instruction pointer</vt:lpstr>
      <vt:lpstr>Labels</vt:lpstr>
      <vt:lpstr>jump: jump</vt:lpstr>
      <vt:lpstr>jcondition: conditional jump</vt:lpstr>
      <vt:lpstr>PowerPoint Presentation</vt:lpstr>
      <vt:lpstr>Conditional jumps</vt:lpstr>
      <vt:lpstr>cmp: compare</vt:lpstr>
      <vt:lpstr>PowerPoint Presentation</vt:lpstr>
      <vt:lpstr>PowerPoint Presentation</vt:lpstr>
      <vt:lpstr>Stack</vt:lpstr>
      <vt:lpstr>PowerPoint Presentation</vt:lpstr>
      <vt:lpstr>Calling functions</vt:lpstr>
      <vt:lpstr>Stack</vt:lpstr>
      <vt:lpstr>Stack</vt:lpstr>
      <vt:lpstr>Call/return</vt:lpstr>
      <vt:lpstr>Stack</vt:lpstr>
      <vt:lpstr>Manipulating stack</vt:lpstr>
      <vt:lpstr>Manipulating stack</vt:lpstr>
      <vt:lpstr>Thank you!</vt:lpstr>
      <vt:lpstr>Old 32bit ASM slides</vt:lpstr>
      <vt:lpstr>We use the following notation</vt:lpstr>
      <vt:lpstr>mov instruciton</vt:lpstr>
      <vt:lpstr>mov examples</vt:lpstr>
      <vt:lpstr>mov: access to data structures</vt:lpstr>
      <vt:lpstr>lea load effective address</vt:lpstr>
      <vt:lpstr>lea vs mov access to data structures</vt:lpstr>
      <vt:lpstr>lea is often used instead of add</vt:lpstr>
      <vt:lpstr>PowerPoint Presentation</vt:lpstr>
      <vt:lpstr>add Integer addition</vt:lpstr>
      <vt:lpstr>add examples</vt:lpstr>
      <vt:lpstr>sub Integer subtraction</vt:lpstr>
      <vt:lpstr>inc, dec Increment, decrement</vt:lpstr>
      <vt:lpstr>and, or, xor Bitwise logical and, or, and exclusive or</vt:lpstr>
      <vt:lpstr>shl, shr shift left, shift right</vt:lpstr>
      <vt:lpstr>More instructions… (similar)</vt:lpstr>
      <vt:lpstr>This is enough to do arithmetic</vt:lpstr>
      <vt:lpstr>Poll Q1: What is inside ebx?</vt:lpstr>
      <vt:lpstr>PowerPoint Presentation</vt:lpstr>
      <vt:lpstr>Poll Q2: What is this instruction doing?</vt:lpstr>
      <vt:lpstr>PowerPoint Presentation</vt:lpstr>
      <vt:lpstr>Poll Q3: Is this a legal instruction</vt:lpstr>
      <vt:lpstr>PowerPoint Presentation</vt:lpstr>
      <vt:lpstr>PowerPoint Presentation</vt:lpstr>
      <vt:lpstr>PowerPoint Presentation</vt:lpstr>
      <vt:lpstr>EIP instruction pointer</vt:lpstr>
      <vt:lpstr>Labels</vt:lpstr>
      <vt:lpstr>jump: jump</vt:lpstr>
      <vt:lpstr>jcondition: conditional jump</vt:lpstr>
      <vt:lpstr>Conditional jumps</vt:lpstr>
      <vt:lpstr>cmp: compare</vt:lpstr>
      <vt:lpstr>Poll Q1: What is inside ebx?</vt:lpstr>
      <vt:lpstr>PowerPoint Presentation</vt:lpstr>
      <vt:lpstr>Poll Q2: What is this instruction doing?</vt:lpstr>
      <vt:lpstr>PowerPoint Presentation</vt:lpstr>
      <vt:lpstr>Poll Q3: Is this a legal instruction</vt:lpstr>
      <vt:lpstr>PowerPoint Presentation</vt:lpstr>
      <vt:lpstr>PowerPoint Presentation</vt:lpstr>
      <vt:lpstr>PowerPoint Presentation</vt:lpstr>
      <vt:lpstr>Stack</vt:lpstr>
      <vt:lpstr>PowerPoint Presentation</vt:lpstr>
      <vt:lpstr>Calling functions</vt:lpstr>
      <vt:lpstr>Stack</vt:lpstr>
      <vt:lpstr>Stack</vt:lpstr>
      <vt:lpstr>Call/return</vt:lpstr>
      <vt:lpstr>Stack</vt:lpstr>
      <vt:lpstr>Manipulating stack</vt:lpstr>
      <vt:lpstr>Manipulating stack</vt:lpstr>
      <vt:lpstr>PowerPoint Presentation</vt:lpstr>
      <vt:lpstr>Some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cs5460/6460 Operating Systems Lecture 03: x86 instruction set</dc:title>
  <dc:creator>Anton Burtsev</dc:creator>
  <cp:lastModifiedBy>Anton Burtsev</cp:lastModifiedBy>
  <cp:revision>320</cp:revision>
  <dcterms:created xsi:type="dcterms:W3CDTF">2012-05-17T21:33:40Z</dcterms:created>
  <dcterms:modified xsi:type="dcterms:W3CDTF">2026-01-15T17:37:03Z</dcterms:modified>
</cp:coreProperties>
</file>