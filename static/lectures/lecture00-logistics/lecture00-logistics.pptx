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6" r:id="rId10"/>
    <p:sldId id="291" r:id="rId11"/>
    <p:sldId id="292" r:id="rId12"/>
    <p:sldId id="293" r:id="rId13"/>
    <p:sldId id="294" r:id="rId14"/>
    <p:sldId id="295" r:id="rId15"/>
    <p:sldId id="2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86"/>
    <p:restoredTop sz="94689"/>
  </p:normalViewPr>
  <p:slideViewPr>
    <p:cSldViewPr snapToGrid="0">
      <p:cViewPr varScale="1">
        <p:scale>
          <a:sx n="147" d="100"/>
          <a:sy n="147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A900-2C46-9948-8E5F-2144C034B3BB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B91AD-3D13-B544-A6B9-3937F5544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1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B5C477-61CD-4CEC-A624-BD9F4F09E1E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93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398E9-6D14-F89C-8072-08E69A8CC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9513CA-C819-59E5-278D-A72A199E7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46F19-4076-001F-3EC3-93173124E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1B93F-556A-376C-A51E-CD02BAC28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A6E8A-E061-7A5B-5089-24D3D68DB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8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0DB5-7F5A-9108-5E64-90D8D7D1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91142-2981-F5EB-93EC-9295EA855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D22FD-CF39-E8EF-14F0-ED15D71F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82FF0-B2C9-94D6-7D62-490D1585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A865A-51F9-521D-5B74-981C755E8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8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C19D-0859-4435-50C3-81FA7515C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2723D-8863-766B-DC7D-E8CD938D4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2F87-C4FF-AFF2-8DFB-B3F5883C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C6330-A42D-101E-C74F-D9BDB063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06A72-E6F4-6B56-51C6-2CE08B94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14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D063D-4AF7-5E65-2947-2539E0C9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1875E-6D44-1B83-51C8-228A6AF47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76C0D-DDF8-B0D5-1EA9-BDBB9C768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5CC46-BC21-45DD-45A7-802FFC8A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61361-3C7E-8948-3343-AB0BBC3AC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1A9AA-22AA-DCA8-FF57-4E8D0182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8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B081-1B4B-5581-C08F-AB1868531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18981-3D1F-4EE5-4250-F291F6532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1C038-1FFD-E735-F850-50FECAAB07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D86619-22C2-64A2-1719-156789DCF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6023E-2BAA-E848-A62B-53211A435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B4088-9E33-5B10-6B78-927C2C5E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540BB6-5D02-55BF-0382-D085989B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BE39A-FE3D-697C-E9CB-7C5C8EC8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5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B199-3EE6-B61A-A74C-50965142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DC60F-C40C-B35D-02D8-A1382ACBF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B428D-00D0-8326-CFE1-10588933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0194D-C04C-B659-F4FE-4A119331A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6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3685F0-4E0B-E76A-49C5-AB6A781C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D29D3-B3FB-9107-3CDC-578A5CB3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3876B-99AA-8F7D-44CE-C1971979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7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E12A-EFC5-9C54-09D0-9537C343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4B566-B8C4-DB2B-F829-030FDC4E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DA146-2ABC-57C2-E666-CF08031F1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1C4E6-7451-01D0-4C43-29FB21FC1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29392-70B9-9BD9-E5FD-52ED871FF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19AAA-407A-E370-7E76-928BDAE7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14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5007-3D4C-7DDD-AC79-3E1ED163C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3EB98D-D84E-5F2A-893C-1CE6186A6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1EB25-79E6-C26E-7D64-A53988CB0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C5C2B-593D-72BA-01C4-F21A93DF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A667B-7D99-0470-C024-610D93E30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EDC18-09C0-96E3-FDA0-F313E581D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5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76B9-579F-718F-30AF-3946EEB4D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99289-ECA5-C0C1-4C34-2769E62D0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7E7FA-63F8-3C68-7FA2-9AAFC4922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5765-5A26-44FA-DE89-0CAD9C38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3401-28BD-6868-DC77-7C373EC8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9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A5AEF-DE02-4672-1104-3FC37C434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B84B0-8466-824A-EBE9-827F36974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7E4FB-350E-7659-3F64-DB34899E8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7A585-EE79-5838-4984-F51C70BB1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825D3-7152-B0D2-EA93-97C76E81B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7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ADCD3-D22F-0A5B-7CE7-6009D69E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3C3A0-35AF-C01B-23C9-13DD3727C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AA0B3-52C2-6751-BD1C-145C07505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06D87-D4A3-194B-AB2D-063290F0B3F9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F2DCD-6B1D-8262-5D71-940F36FDC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0C8B4-D864-71EB-0901-6C77F421B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7B42C-0F20-1A47-86B5-D82B9199C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3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rs-research.github.io/cs5460/" TargetMode="External"/><Relationship Id="rId2" Type="http://schemas.openxmlformats.org/officeDocument/2006/relationships/hyperlink" Target="https://mars-research.github.io/aburtsev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rs-research.github.io/projects/redleaf/" TargetMode="External"/><Relationship Id="rId2" Type="http://schemas.openxmlformats.org/officeDocument/2006/relationships/hyperlink" Target="https://mars-research.github.io/projects/atm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rs-research.github.io/projects/kspli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dos.csail.mit.edu/6.1810/2025/xv6.html" TargetMode="External"/><Relationship Id="rId2" Type="http://schemas.openxmlformats.org/officeDocument/2006/relationships/hyperlink" Target="https://pdos.csail.mit.edu/6.828/2018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pages.cs.wisc.edu/~remzi/OSTEP/" TargetMode="External"/><Relationship Id="rId2" Type="http://schemas.openxmlformats.org/officeDocument/2006/relationships/hyperlink" Target="https://xv6-64.gitlab.io/xv6-64-book/xv6-64-book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C529-69B9-598C-7B30-B60D838E2C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cs5460/6460 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E51D6-A97E-37AC-4B68-5D1D838E6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Lecture 00 – Logistics</a:t>
            </a:r>
          </a:p>
          <a:p>
            <a:r>
              <a:rPr lang="en-US" sz="3600" dirty="0"/>
              <a:t>Anton Burtsev</a:t>
            </a:r>
          </a:p>
        </p:txBody>
      </p:sp>
    </p:spTree>
    <p:extLst>
      <p:ext uri="{BB962C8B-B14F-4D97-AF65-F5344CB8AC3E}">
        <p14:creationId xmlns:p14="http://schemas.microsoft.com/office/powerpoint/2010/main" val="1661453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4833-B283-2361-3583-00EE5FB5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cs5460/6460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47FCD-2585-6CCE-FB06-575A2ECF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Mixed undergrad/grad class</a:t>
            </a:r>
          </a:p>
          <a:p>
            <a:pPr marL="685800" lvl="2">
              <a:spcBef>
                <a:spcPts val="1000"/>
              </a:spcBef>
            </a:pPr>
            <a:r>
              <a:rPr lang="en-US" dirty="0"/>
              <a:t>107 students</a:t>
            </a:r>
          </a:p>
          <a:p>
            <a:pPr marL="228600" lvl="1">
              <a:spcBef>
                <a:spcPts val="1000"/>
              </a:spcBef>
            </a:pPr>
            <a:r>
              <a:rPr lang="en-US" dirty="0"/>
              <a:t>Instructor: Anton Burtsev</a:t>
            </a:r>
          </a:p>
          <a:p>
            <a:pPr marL="685800" lvl="2">
              <a:spcBef>
                <a:spcPts val="1000"/>
              </a:spcBef>
            </a:pPr>
            <a:r>
              <a:rPr lang="en-US" dirty="0">
                <a:hlinkClick r:id="rId2"/>
              </a:rPr>
              <a:t>https://mars-research.github.io/aburtsev/</a:t>
            </a:r>
            <a:endParaRPr lang="en-US" dirty="0"/>
          </a:p>
          <a:p>
            <a:pPr marL="228600" lvl="1">
              <a:spcBef>
                <a:spcPts val="1000"/>
              </a:spcBef>
            </a:pPr>
            <a:r>
              <a:rPr lang="en-US" dirty="0"/>
              <a:t>Class web page:</a:t>
            </a:r>
          </a:p>
          <a:p>
            <a:pPr marL="685800" lvl="2">
              <a:spcBef>
                <a:spcPts val="1000"/>
              </a:spcBef>
            </a:pPr>
            <a:r>
              <a:rPr lang="en-US" dirty="0">
                <a:hlinkClick r:id="rId3"/>
              </a:rPr>
              <a:t>https://mars-research.github.io/cs5460/</a:t>
            </a:r>
            <a:endParaRPr lang="en-US" dirty="0"/>
          </a:p>
          <a:p>
            <a:pPr marL="457200" lvl="2" indent="0">
              <a:spcBef>
                <a:spcPts val="1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466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FB420-4C87-60B3-F220-659BAAAB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026A8-E6E0-0422-9060-96369B813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build operating systems </a:t>
            </a:r>
          </a:p>
          <a:p>
            <a:r>
              <a:rPr lang="en-US" dirty="0"/>
              <a:t>Clean slate</a:t>
            </a:r>
          </a:p>
          <a:p>
            <a:pPr lvl="1"/>
            <a:r>
              <a:rPr lang="en-US" dirty="0"/>
              <a:t>Atmosphere: formally verified microkernel in Rust</a:t>
            </a:r>
          </a:p>
          <a:p>
            <a:pPr lvl="2"/>
            <a:r>
              <a:rPr lang="en-US" dirty="0"/>
              <a:t> </a:t>
            </a:r>
            <a:r>
              <a:rPr lang="en-US" dirty="0">
                <a:hlinkClick r:id="rId2"/>
              </a:rPr>
              <a:t>https://mars-research.github.io/projects/atmo/</a:t>
            </a:r>
            <a:endParaRPr lang="en-US" dirty="0"/>
          </a:p>
          <a:p>
            <a:pPr lvl="1"/>
            <a:r>
              <a:rPr lang="en-US" dirty="0" err="1"/>
              <a:t>RedLeaf</a:t>
            </a:r>
            <a:r>
              <a:rPr lang="en-US" dirty="0"/>
              <a:t>: language safety of Rust for isolation</a:t>
            </a:r>
          </a:p>
          <a:p>
            <a:pPr lvl="2"/>
            <a:r>
              <a:rPr lang="en-US" dirty="0">
                <a:hlinkClick r:id="rId3"/>
              </a:rPr>
              <a:t>https://mars-research.github.io/projects/redleaf/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Extensions to Linux</a:t>
            </a:r>
          </a:p>
          <a:p>
            <a:pPr lvl="1"/>
            <a:r>
              <a:rPr lang="en-US" dirty="0"/>
              <a:t>LXDs/LVDs/</a:t>
            </a:r>
            <a:r>
              <a:rPr lang="en-US" dirty="0" err="1"/>
              <a:t>Ksplit</a:t>
            </a:r>
            <a:r>
              <a:rPr lang="en-US" dirty="0"/>
              <a:t>: isolation of device drivers in the Linux kernel</a:t>
            </a:r>
          </a:p>
          <a:p>
            <a:pPr lvl="1"/>
            <a:r>
              <a:rPr lang="en-US" dirty="0">
                <a:hlinkClick r:id="rId4"/>
              </a:rPr>
              <a:t>https://mars-research.github.io/projects/ksplit/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Extensions to Xen</a:t>
            </a:r>
          </a:p>
          <a:p>
            <a:pPr lvl="1"/>
            <a:r>
              <a:rPr lang="en-US" dirty="0" err="1"/>
              <a:t>XenTT</a:t>
            </a:r>
            <a:r>
              <a:rPr lang="en-US" dirty="0"/>
              <a:t>: </a:t>
            </a:r>
            <a:r>
              <a:rPr lang="en-US" dirty="0" err="1"/>
              <a:t>detersministic</a:t>
            </a:r>
            <a:r>
              <a:rPr lang="en-US" dirty="0"/>
              <a:t> replay of virtual machines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32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6CF0-203B-BEC8-7B73-E5109091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9506D-55CF-CA3B-4016-9ADF751BA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Inspired by </a:t>
            </a:r>
          </a:p>
          <a:p>
            <a:pPr lvl="1"/>
            <a:r>
              <a:rPr lang="en-US" dirty="0"/>
              <a:t>MIT 6.828: Operating System Engineering</a:t>
            </a:r>
          </a:p>
          <a:p>
            <a:pPr lvl="1"/>
            <a:r>
              <a:rPr lang="en-US" dirty="0">
                <a:hlinkClick r:id="rId2"/>
              </a:rPr>
              <a:t>https://pdos.csail.mit.edu/6.828/2018/</a:t>
            </a:r>
            <a:r>
              <a:rPr lang="en-US" dirty="0"/>
              <a:t> </a:t>
            </a:r>
          </a:p>
          <a:p>
            <a:r>
              <a:rPr lang="en-US" dirty="0"/>
              <a:t>Adapted for undergraduate students </a:t>
            </a:r>
          </a:p>
          <a:p>
            <a:r>
              <a:rPr lang="en-US" dirty="0"/>
              <a:t>We will use xv6</a:t>
            </a:r>
          </a:p>
          <a:p>
            <a:pPr lvl="1"/>
            <a:r>
              <a:rPr lang="en-US" dirty="0"/>
              <a:t>Relatively simple OS kernel (only 9K lines of code)</a:t>
            </a:r>
          </a:p>
          <a:p>
            <a:pPr lvl="1"/>
            <a:r>
              <a:rPr lang="en-US" dirty="0"/>
              <a:t>Reasonably complete UNIX kernel</a:t>
            </a:r>
          </a:p>
          <a:p>
            <a:pPr lvl="1"/>
            <a:r>
              <a:rPr lang="en-US" dirty="0"/>
              <a:t>Started at MIT </a:t>
            </a:r>
            <a:r>
              <a:rPr lang="en-US" dirty="0">
                <a:hlinkClick r:id="rId3"/>
              </a:rPr>
              <a:t>https://pdos.csail.mit.edu/6.1810/2025/xv6.html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41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97FAE-3273-254F-123B-2A8D7E66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1A7D-3F94-0041-0899-DE16BFD46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35C4A-C1AC-941F-9571-4219A7EAE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MIT moved to the RISC-V-based class</a:t>
            </a:r>
          </a:p>
          <a:p>
            <a:r>
              <a:rPr lang="en-US" dirty="0"/>
              <a:t>We will use x86-64 bit version</a:t>
            </a:r>
          </a:p>
          <a:p>
            <a:endParaRPr lang="en-US" dirty="0"/>
          </a:p>
          <a:p>
            <a:r>
              <a:rPr lang="en-US" dirty="0"/>
              <a:t>xv6 comes with a book</a:t>
            </a:r>
          </a:p>
          <a:p>
            <a:pPr lvl="1"/>
            <a:r>
              <a:rPr lang="en-US" dirty="0">
                <a:hlinkClick r:id="rId2"/>
              </a:rPr>
              <a:t>https://xv6-64.gitlab.io/xv6-64-book/xv6-64-book.pdf</a:t>
            </a:r>
            <a:endParaRPr lang="en-US" dirty="0"/>
          </a:p>
          <a:p>
            <a:endParaRPr lang="en-US" dirty="0"/>
          </a:p>
          <a:p>
            <a:r>
              <a:rPr lang="en-US" dirty="0"/>
              <a:t>Another book we’re going to use:</a:t>
            </a:r>
          </a:p>
          <a:p>
            <a:pPr lvl="1"/>
            <a:r>
              <a:rPr lang="en-US" dirty="0"/>
              <a:t>“Operating Systems: Three Easy Pieces” (OSTEP) Remzi H. Arpaci-Dusseau and Andrea C. Arpaci-Dusseau</a:t>
            </a:r>
          </a:p>
          <a:p>
            <a:pPr lvl="1"/>
            <a:r>
              <a:rPr lang="en-US" dirty="0"/>
              <a:t>Free online version </a:t>
            </a:r>
            <a:r>
              <a:rPr lang="en-US" dirty="0">
                <a:hlinkClick r:id="rId3"/>
              </a:rPr>
              <a:t>http://pages.cs.wisc.edu/~remzi/OSTEP/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787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612F-DCBC-3332-26E2-92FA727F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503B6-A58B-93C1-DCA0-1B6712B4A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Live  lectures</a:t>
            </a:r>
          </a:p>
          <a:p>
            <a:pPr lvl="1"/>
            <a:r>
              <a:rPr lang="en-US" dirty="0"/>
              <a:t>High level concepts and abstractions</a:t>
            </a:r>
          </a:p>
          <a:p>
            <a:pPr lvl="1"/>
            <a:r>
              <a:rPr lang="en-US" dirty="0"/>
              <a:t>Recorded</a:t>
            </a:r>
          </a:p>
          <a:p>
            <a:r>
              <a:rPr lang="en-US" dirty="0"/>
              <a:t>Reading</a:t>
            </a:r>
          </a:p>
          <a:p>
            <a:pPr lvl="1"/>
            <a:r>
              <a:rPr lang="en-US" dirty="0"/>
              <a:t>Xv6 book + source code</a:t>
            </a:r>
          </a:p>
          <a:p>
            <a:pPr lvl="1"/>
            <a:r>
              <a:rPr lang="en-US" dirty="0"/>
              <a:t>Bits of OSTEP book</a:t>
            </a:r>
          </a:p>
          <a:p>
            <a:pPr lvl="1"/>
            <a:r>
              <a:rPr lang="en-US" dirty="0"/>
              <a:t>Other materials</a:t>
            </a:r>
          </a:p>
          <a:p>
            <a:r>
              <a:rPr lang="en-US" dirty="0" err="1"/>
              <a:t>Homeworks</a:t>
            </a:r>
            <a:endParaRPr lang="en-US" dirty="0"/>
          </a:p>
          <a:p>
            <a:pPr lvl="1"/>
            <a:r>
              <a:rPr lang="en-US" dirty="0"/>
              <a:t>Coding real parts of the xv6 kernel</a:t>
            </a:r>
          </a:p>
          <a:p>
            <a:r>
              <a:rPr lang="en-US" dirty="0"/>
              <a:t>Weekly quizzes</a:t>
            </a:r>
          </a:p>
          <a:p>
            <a:pPr lvl="1"/>
            <a:r>
              <a:rPr lang="en-US" dirty="0"/>
              <a:t>Help to keep on track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63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F3FE9-92BC-57BF-B996-2B16B8F7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4E0A6-F560-D649-141F-E10692FD8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grade</a:t>
            </a:r>
          </a:p>
          <a:p>
            <a:pPr lvl="1"/>
            <a:r>
              <a:rPr lang="en-US" dirty="0"/>
              <a:t>Homework: 30%</a:t>
            </a:r>
          </a:p>
          <a:p>
            <a:pPr lvl="1"/>
            <a:r>
              <a:rPr lang="en-US" dirty="0"/>
              <a:t>In-class activities: 10%</a:t>
            </a:r>
          </a:p>
          <a:p>
            <a:pPr lvl="1"/>
            <a:r>
              <a:rPr lang="en-US" dirty="0"/>
              <a:t>Weekly quizzes 15% </a:t>
            </a:r>
          </a:p>
          <a:p>
            <a:pPr lvl="1"/>
            <a:r>
              <a:rPr lang="en-US" dirty="0"/>
              <a:t>Midterm exam: 20% </a:t>
            </a:r>
          </a:p>
          <a:p>
            <a:pPr lvl="1"/>
            <a:r>
              <a:rPr lang="en-US" dirty="0"/>
              <a:t>Final exam: 25%</a:t>
            </a:r>
          </a:p>
          <a:p>
            <a:r>
              <a:rPr lang="en-US" dirty="0"/>
              <a:t>You can submit late homework 3 days after the deadline for 60% of your grade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60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E918-9301-2CE5-8EDA-EBCAEAF16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0E75-4975-CC50-3D7C-2769B620F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5-6 homework assignments</a:t>
            </a:r>
          </a:p>
          <a:p>
            <a:pPr lvl="1"/>
            <a:r>
              <a:rPr lang="en-US" dirty="0"/>
              <a:t>Build a shell</a:t>
            </a:r>
          </a:p>
          <a:p>
            <a:pPr lvl="1"/>
            <a:r>
              <a:rPr lang="en-US" dirty="0"/>
              <a:t>Build an ELF loader</a:t>
            </a:r>
          </a:p>
          <a:p>
            <a:pPr lvl="1"/>
            <a:r>
              <a:rPr lang="en-US" dirty="0"/>
              <a:t>Setup QEMU debugging environment and boot into “hello world”</a:t>
            </a:r>
          </a:p>
          <a:p>
            <a:pPr lvl="1"/>
            <a:r>
              <a:rPr lang="en-US" dirty="0"/>
              <a:t>Implement new system calls in xv6</a:t>
            </a:r>
          </a:p>
          <a:p>
            <a:pPr lvl="1"/>
            <a:r>
              <a:rPr lang="en-US" dirty="0"/>
              <a:t>Implement changes to the xv6 file system, maybe threading</a:t>
            </a:r>
          </a:p>
          <a:p>
            <a:r>
              <a:rPr lang="en-US" dirty="0"/>
              <a:t>A weekly quiz </a:t>
            </a:r>
          </a:p>
          <a:p>
            <a:pPr lvl="1"/>
            <a:r>
              <a:rPr lang="en-US" dirty="0"/>
              <a:t>Assigned on Friday, due Monday</a:t>
            </a:r>
          </a:p>
          <a:p>
            <a:r>
              <a:rPr lang="en-US" dirty="0"/>
              <a:t>In class </a:t>
            </a:r>
            <a:r>
              <a:rPr lang="en-US" dirty="0" err="1"/>
              <a:t>PollEV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8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2050B-EFE6-6BC5-2C30-F8254B8A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E3A08-96F2-4F63-FBB3-FBF0FB97B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Exams are on paper</a:t>
            </a:r>
          </a:p>
          <a:p>
            <a:pPr lvl="1"/>
            <a:r>
              <a:rPr lang="en-US" dirty="0"/>
              <a:t>Open book (you can print anything you like)</a:t>
            </a:r>
          </a:p>
          <a:p>
            <a:pPr lvl="1"/>
            <a:r>
              <a:rPr lang="en-US" dirty="0"/>
              <a:t>Closed computers</a:t>
            </a:r>
          </a:p>
        </p:txBody>
      </p:sp>
    </p:spTree>
    <p:extLst>
      <p:ext uri="{BB962C8B-B14F-4D97-AF65-F5344CB8AC3E}">
        <p14:creationId xmlns:p14="http://schemas.microsoft.com/office/powerpoint/2010/main" val="284265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DBC25-B487-3ADB-A157-3BE105BC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Plagiarism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F74C7-BEB5-7855-54F4-E429DE503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work should be your own</a:t>
            </a:r>
          </a:p>
          <a:p>
            <a:pPr lvl="1"/>
            <a:r>
              <a:rPr lang="en-US" dirty="0"/>
              <a:t>You can discuss approaches to any assignments</a:t>
            </a:r>
          </a:p>
          <a:p>
            <a:pPr lvl="1"/>
            <a:r>
              <a:rPr lang="en-US" dirty="0"/>
              <a:t>Ask questions on Piazza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87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9776-156C-E619-2A88-7B6BBB91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25B69-789D-A978-85BE-FFC20DEAB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year we plan on using Codex + VS code</a:t>
            </a:r>
          </a:p>
          <a:p>
            <a:pPr lvl="1"/>
            <a:r>
              <a:rPr lang="en-US" dirty="0"/>
              <a:t>Students are using AI anyway… </a:t>
            </a:r>
          </a:p>
          <a:p>
            <a:pPr lvl="1"/>
            <a:r>
              <a:rPr lang="en-US" dirty="0"/>
              <a:t>We are trying to find a creative way of letting you to use it</a:t>
            </a:r>
          </a:p>
        </p:txBody>
      </p:sp>
    </p:spTree>
    <p:extLst>
      <p:ext uri="{BB962C8B-B14F-4D97-AF65-F5344CB8AC3E}">
        <p14:creationId xmlns:p14="http://schemas.microsoft.com/office/powerpoint/2010/main" val="1243381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0A2B-AC6B-09E7-6BC3-EDD1F03CB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" dirty="0">
                <a:solidFill>
                  <a:srgbClr val="000000"/>
                </a:solidFill>
                <a:latin typeface="Arial"/>
              </a:rPr>
              <a:t>Prerequisites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3A5A4-050D-9F53-8130-9B9ED3E2E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89374" cy="4351338"/>
          </a:xfrm>
        </p:spPr>
        <p:txBody>
          <a:bodyPr>
            <a:normAutofit/>
          </a:bodyPr>
          <a:lstStyle/>
          <a:p>
            <a:r>
              <a:rPr lang="en-US" dirty="0"/>
              <a:t>Solid C coding skills</a:t>
            </a:r>
          </a:p>
          <a:p>
            <a:pPr lvl="1"/>
            <a:r>
              <a:rPr lang="en-US" dirty="0"/>
              <a:t>Xv6 is written in C</a:t>
            </a:r>
          </a:p>
          <a:p>
            <a:pPr lvl="1"/>
            <a:r>
              <a:rPr lang="en-US" dirty="0"/>
              <a:t>You need to read, code, and debug</a:t>
            </a:r>
          </a:p>
          <a:p>
            <a:pPr lvl="1"/>
            <a:r>
              <a:rPr lang="en-US" dirty="0"/>
              <a:t>AI can help explaining the code but still</a:t>
            </a:r>
          </a:p>
          <a:p>
            <a:r>
              <a:rPr lang="en-US" dirty="0"/>
              <a:t>All </a:t>
            </a:r>
            <a:r>
              <a:rPr lang="en-US" dirty="0" err="1"/>
              <a:t>homeworks</a:t>
            </a:r>
            <a:r>
              <a:rPr lang="en-US" dirty="0"/>
              <a:t> are in C</a:t>
            </a:r>
          </a:p>
          <a:p>
            <a:pPr lvl="1"/>
            <a:r>
              <a:rPr lang="en-US" dirty="0"/>
              <a:t>Many questions will require explaining xv6 code</a:t>
            </a:r>
          </a:p>
          <a:p>
            <a:r>
              <a:rPr lang="en-US" dirty="0"/>
              <a:t>Be able to work and code in Linux/UNIX</a:t>
            </a:r>
          </a:p>
          <a:p>
            <a:r>
              <a:rPr lang="en-US" dirty="0"/>
              <a:t>Some assembly skills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4A952C-1CAA-2936-CADA-501C805450A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204070" y="365125"/>
            <a:ext cx="4613556" cy="5981881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41825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43F1-95A6-4091-63A1-48D8223A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succeed?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F6FF-B8D9-9737-90EF-2A75C2848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the source</a:t>
            </a:r>
          </a:p>
          <a:p>
            <a:pPr lvl="1"/>
            <a:r>
              <a:rPr lang="en-US" dirty="0"/>
              <a:t>This is the ultimate skill of </a:t>
            </a:r>
            <a:r>
              <a:rPr lang="en-US"/>
              <a:t>any systems </a:t>
            </a:r>
            <a:r>
              <a:rPr lang="en-US" dirty="0"/>
              <a:t>researcher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00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00F90-5D53-E97C-5F60-C1366D73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59FA-DC5C-3A72-1BE2-D4E4E3BB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succeed (continued)?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C66CA-0AF2-B6B1-112F-5CDA74577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get scared</a:t>
            </a:r>
          </a:p>
          <a:p>
            <a:pPr lvl="1"/>
            <a:r>
              <a:rPr lang="en-US" dirty="0"/>
              <a:t>The class is hard</a:t>
            </a:r>
          </a:p>
          <a:p>
            <a:pPr lvl="1"/>
            <a:r>
              <a:rPr lang="en-US" dirty="0"/>
              <a:t>The goal is to teach you how real OS works, and it’s non-trivial</a:t>
            </a:r>
          </a:p>
          <a:p>
            <a:r>
              <a:rPr lang="en-US" dirty="0"/>
              <a:t>Homework assignments and exams are challenging</a:t>
            </a:r>
          </a:p>
          <a:p>
            <a:pPr lvl="1"/>
            <a:r>
              <a:rPr lang="en-US" dirty="0"/>
              <a:t>AI helps for </a:t>
            </a:r>
            <a:r>
              <a:rPr lang="en-US" dirty="0" err="1"/>
              <a:t>homeworks</a:t>
            </a:r>
            <a:r>
              <a:rPr lang="en-US" dirty="0"/>
              <a:t> but don’t overdo it</a:t>
            </a:r>
          </a:p>
          <a:p>
            <a:pPr lvl="1"/>
            <a:r>
              <a:rPr lang="en-US" dirty="0"/>
              <a:t>Exams will require in-depth understanding of all homework assignments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90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26721" y="2437853"/>
            <a:ext cx="2865119" cy="1915647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</a:rPr>
              <a:t>Thank you!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F7C26-5391-E1A8-542C-DB0DFE704B3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989" y="-7686"/>
            <a:ext cx="8682012" cy="6865686"/>
          </a:xfrm>
          <a:prstGeom prst="rect">
            <a:avLst/>
          </a:prstGeom>
          <a:noFill/>
        </p:spPr>
      </p:pic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B50893EC-12B2-955B-BAB9-5C457C002010}"/>
              </a:ext>
            </a:extLst>
          </p:cNvPr>
          <p:cNvSpPr/>
          <p:nvPr/>
        </p:nvSpPr>
        <p:spPr>
          <a:xfrm>
            <a:off x="6096000" y="270509"/>
            <a:ext cx="4720046" cy="1445079"/>
          </a:xfrm>
          <a:prstGeom prst="wedgeRoundRectCallout">
            <a:avLst>
              <a:gd name="adj1" fmla="val -68652"/>
              <a:gd name="adj2" fmla="val 25313"/>
              <a:gd name="adj3" fmla="val 16667"/>
            </a:avLst>
          </a:prstGeom>
          <a:solidFill>
            <a:srgbClr val="EDF6F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Hey, you can’t use AI on the exam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6813BD5E-9176-7301-3A5B-4A3A3EBD1008}"/>
              </a:ext>
            </a:extLst>
          </p:cNvPr>
          <p:cNvSpPr/>
          <p:nvPr/>
        </p:nvSpPr>
        <p:spPr>
          <a:xfrm>
            <a:off x="6824616" y="4535327"/>
            <a:ext cx="4209143" cy="1360376"/>
          </a:xfrm>
          <a:prstGeom prst="wedgeRoundRectCallout">
            <a:avLst>
              <a:gd name="adj1" fmla="val -69406"/>
              <a:gd name="adj2" fmla="val -56961"/>
              <a:gd name="adj3" fmla="val 16667"/>
            </a:avLst>
          </a:prstGeom>
          <a:solidFill>
            <a:srgbClr val="EDF6F8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I don’t even have a screen</a:t>
            </a:r>
          </a:p>
        </p:txBody>
      </p:sp>
    </p:spTree>
    <p:extLst>
      <p:ext uri="{BB962C8B-B14F-4D97-AF65-F5344CB8AC3E}">
        <p14:creationId xmlns:p14="http://schemas.microsoft.com/office/powerpoint/2010/main" val="2137491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217e0e7-539d-4563-b1bf-7c6dcf074f91}" enabled="0" method="" siteId="{5217e0e7-539d-4563-b1bf-7c6dcf074f9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102568</TotalTime>
  <Words>608</Words>
  <Application>Microsoft Macintosh PowerPoint</Application>
  <PresentationFormat>Widescreen</PresentationFormat>
  <Paragraphs>109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cs5460/6460 Operating Systems</vt:lpstr>
      <vt:lpstr>Welcome to cs5460/6460</vt:lpstr>
      <vt:lpstr>Short intro</vt:lpstr>
      <vt:lpstr>This course</vt:lpstr>
      <vt:lpstr>This course</vt:lpstr>
      <vt:lpstr>Course organization</vt:lpstr>
      <vt:lpstr>Grading</vt:lpstr>
      <vt:lpstr>More details</vt:lpstr>
      <vt:lpstr>Exams</vt:lpstr>
      <vt:lpstr>Plagiarism</vt:lpstr>
      <vt:lpstr>AI Use</vt:lpstr>
      <vt:lpstr>Prerequisites</vt:lpstr>
      <vt:lpstr>How to succeed?</vt:lpstr>
      <vt:lpstr>How to succeed (continued)?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 Burtsev</dc:creator>
  <cp:lastModifiedBy>Anton Burtsev</cp:lastModifiedBy>
  <cp:revision>64</cp:revision>
  <dcterms:created xsi:type="dcterms:W3CDTF">2025-08-18T19:13:37Z</dcterms:created>
  <dcterms:modified xsi:type="dcterms:W3CDTF">2026-01-07T02:10:55Z</dcterms:modified>
</cp:coreProperties>
</file>